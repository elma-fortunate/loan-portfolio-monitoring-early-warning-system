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80" r:id="rId13"/>
    <p:sldId id="272" r:id="rId14"/>
    <p:sldId id="273" r:id="rId15"/>
    <p:sldId id="276" r:id="rId16"/>
    <p:sldId id="279" r:id="rId17"/>
    <p:sldId id="281"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4660"/>
  </p:normalViewPr>
  <p:slideViewPr>
    <p:cSldViewPr snapToGrid="0">
      <p:cViewPr varScale="1">
        <p:scale>
          <a:sx n="66" d="100"/>
          <a:sy n="66"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23D5F-7C36-494F-A6AF-8DFBC1789634}" type="datetimeFigureOut">
              <a:rPr lang="en-ZW" smtClean="0"/>
              <a:t>23/6/2026</a:t>
            </a:fld>
            <a:endParaRPr lang="en-Z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8AC719-A0D5-4D40-A7C4-D6575934C2E9}" type="slidenum">
              <a:rPr lang="en-ZW" smtClean="0"/>
              <a:t>‹#›</a:t>
            </a:fld>
            <a:endParaRPr lang="en-ZW"/>
          </a:p>
        </p:txBody>
      </p:sp>
    </p:spTree>
    <p:extLst>
      <p:ext uri="{BB962C8B-B14F-4D97-AF65-F5344CB8AC3E}">
        <p14:creationId xmlns:p14="http://schemas.microsoft.com/office/powerpoint/2010/main" val="3132307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Elma Fortunate Phiri, and today I'm going to walk you through a project I built: a Loan Portfolio Monitoring and Early Warning System.
This is a proof of concept built on synthetic data, but the problem it solves is very real. By the end of this talk, I want you to walk away thinking about how predictive analytics could change the way we manage credit risk.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 deliver this slowly and confidently. Pause after the first line.
'Every loan that goes bad had warning signs. Most banks only see them in the rear-view mirror. I built a system that puts those warning signs on the windshield.'
Let that land. Then move to the next slide. Don't rush.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Banks today manage loan risk the old way: evaluate at origination, then hope for the best.
The problem is lag. Monitoring is periodic and often manual. By the time a loan flags as non-performing, it's too late to intervene meaningfully — the bank is already provisioning for losses.
This is the gap I wanted to close.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question. Not 'did this loan default?' but 'IS this loan heading toward default, and can we see it coming?'
My three objectives were: one, detect risky loans early. Two, monitor portfolio health so management can see the big picture. Three, support the people on the ground — relationship managers — in deciding who to call.
These three goals shaped every design decision in the system.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dataset built to replicate a real loan portfolio.
One thing that stood out immediately in the data: roughly half the portfolio was already in Special Mention or Watch — these are loans not yet defaulted, but already showing deterioration. That's exactly the population an Early Warning System is designed for.
The dataset included borrower profiles, loan terms, repayment behaviour, and I engineered additional financial ratios — LTV, DTI, and DSCR — that banks use every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I spent time exploring the data. Four things stood out.
One: Credit score is the single strongest predictor. Exactly as theory predicts — good.
Two: Days Past Due is a beautiful monotonic signal. As the loan deteriorates, DPD rises in a clear, trackable way.
Three: Missed payments compound risk. Two or more missed payments is a strong red flag.
Four — and this surprised me: income and collateral were much weaker predictors than I expected. Behaviour beats demographics. That shaped how I built the EWS.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system in four stages.
Stage one: Data ingestion and feature engineering — I calculated LTV, DTI, DSCR, and cleaned and encoded all the categorical variables.
Stage two: The Early Warning System — six binary flags combined into a composite risk score, which assigns each borrower a traffic light: Green, Amber, or Red.
Stage three: The PD model — a Random Forest classifier that predicts the probability a borrower will default.
Stage four: The portfolio dashboard — rolling everything up from individual borrower to the full portfolio view.
These four stages work together to give a bank a complete picture.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binary flags at the heart of the Early Warning System. Each one fires a 1 or a 0.
I chose these six because they each capture a different dimension of risk: payment behaviour, leverage, income adequacy, and credit utilisation.
None of them alone is a death sentence. But when you start stacking them, the picture gets very clear. That's the insight behind the composite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system becomes actionable.
I sum up all six flags into a score from 0 to 6. Then I assign a traffic light.
Green — score 0 or 1. The borrower is fine. Routine monitoring.
Amber — score 2 or 3. Something is starting to move. Watch this borrower. Consider a call.
Red — score 4 or above. Multiple stress signals are firing at once. Act now.
This is deliberately simple — because simplicity gets used. A complicated scoring model that no one understands doesn't protect the portfolio.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one concrete finding from the analysis.
When I compare borrowers with high debt-to-income ratios — above 40% — against those with manageable debt, the NPL rate jumps from 15.6% to 26.2%.
That's a 68% increase in default likelihood. And it's measurable. It's calculable at the point of monitoring, not just at origination.
This is why DTI is one of the six EWS flags.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PD model, I tested three algorithms: Logistic Regression as a baseline, Decision Tree for interpretability, and Random Forest.
Random Forest came out on top. It handles mixed data types well, it's robust to noisy features, and critically — it supports SHAP explainability, which I'll show you in a moment.
In a production environment, I would also explore XGBoost and calibrated probability outputs. But for this PoC, Random Forest delivered strong results.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PD model, I tested three algorithms: Logistic Regression as a baseline, Decision Tree for interpretability, and Random Forest.
Random Forest came out on top. It handles mixed data types well, it's robust to noisy features, and critically — it supports SHAP explainability, which I'll show you in a moment.
In a production environment, I would also explore XGBoost and calibrated probability outputs. But for this PoC, Random Forest delivered strong results.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0491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with two borrowers.
Borrower A: Credit score 720, no days overdue, one missed payment, DTI 32%, LTV 65%. EWS score: 1. Green. This person is fine — monitor normally.
Borrower B: Credit score 480, 52 days past due, three missed payments, DTI 58%, LTV 91%. Five out of six flags are firing. EWS score: 5. Red. This borrower needs a call today.
The system didn't wait for a formal review cycle. It flagged Borrower B the moment the data updated. That's the difference between reactive and predictive.
Pause here. Let the audience sit with those two cards for a moment.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in business terms?
One: lower loan losses. When you catch a borrower early, you can restructure, extend, or reduce exposure before it becomes a write-off. Restructuring is always cheaper than default.
Two: more accurate provisioning. IFRS 9 requires banks to hold provisions based on expected credit losses. An EWS score maps naturally to Stage 1, 2, and 3 staging — that's a direct regulatory benefit.
Three: RM prioritisation. Instead of a relationship manager manually reviewing hundreds of loans, they get a prioritised list of who needs attention today.
Four: portfolio intelligence. Senior management can see concentration risks before they become systemic problems.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proof of concept — but it's a credible foundation for a production system.
The four next steps are: integrate real data from the core banking system, fix the data leakage issue I identified, add time-series monitoring so we track score movements over time, and automate the alerts so relationship managers get notified when a borrower crosses into Red.
None of these are technically complex. The hard part — defining the flags, validating the model logic, building the portfolio view — is already done.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proof of concept — but it's a credible foundation for a production system.
The four next steps are: integrate real data from the core banking system, fix the data leakage issue I identified, add time-series monitoring so we track score movements over time, and automate the alerts so relationship managers get notified when a borrower crosses into Red.
None of these are technically complex. The hard part — defining the flags, validating the model logic, building the portfolio view — is already done.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99173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proof of concept — but it's a credible foundation for a production system.
The four next steps are: integrate real data from the core banking system, fix the data leakage issue I identified, add time-series monitoring so we track score movements over time, and automate the alerts so relationship managers get notified when a borrower crosses into Red.
None of these are technically complex. The hard part — defining the flags, validating the model logic, building the portfolio view — is already done.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64279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deliver this with confidence.
'Thank you. Building this system taught me that the best early warning signals aren't exotic — they're the simple ones: how many days is someone overdue, how many payments have they missed, and what is their credit score telling us. The complexity is in the system that acts on those signals, not in finding them.'
Then open for questions. Breathe. You've done the work — now enjoy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C412A4-0253-4867-B0D4-0E5B4B7D908B}" type="datetimeFigureOut">
              <a:rPr lang="en-ZW" smtClean="0"/>
              <a:t>23/6/2026</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3657476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412A4-0253-4867-B0D4-0E5B4B7D908B}" type="datetimeFigureOut">
              <a:rPr lang="en-ZW" smtClean="0"/>
              <a:t>23/6/2026</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64386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C412A4-0253-4867-B0D4-0E5B4B7D908B}" type="datetimeFigureOut">
              <a:rPr lang="en-ZW" smtClean="0"/>
              <a:t>23/6/2026</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118485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C412A4-0253-4867-B0D4-0E5B4B7D908B}" type="datetimeFigureOut">
              <a:rPr lang="en-ZW" smtClean="0"/>
              <a:t>23/6/2026</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801818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C412A4-0253-4867-B0D4-0E5B4B7D908B}" type="datetimeFigureOut">
              <a:rPr lang="en-ZW" smtClean="0"/>
              <a:t>23/6/2026</a:t>
            </a:fld>
            <a:endParaRPr lang="en-ZW"/>
          </a:p>
        </p:txBody>
      </p:sp>
      <p:sp>
        <p:nvSpPr>
          <p:cNvPr id="8" name="Footer Placeholder 7"/>
          <p:cNvSpPr>
            <a:spLocks noGrp="1"/>
          </p:cNvSpPr>
          <p:nvPr>
            <p:ph type="ftr" sz="quarter" idx="11"/>
          </p:nvPr>
        </p:nvSpPr>
        <p:spPr/>
        <p:txBody>
          <a:bodyPr/>
          <a:lstStyle/>
          <a:p>
            <a:endParaRPr lang="en-ZW"/>
          </a:p>
        </p:txBody>
      </p:sp>
      <p:sp>
        <p:nvSpPr>
          <p:cNvPr id="9" name="Slide Number Placeholder 8"/>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154122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C412A4-0253-4867-B0D4-0E5B4B7D908B}" type="datetimeFigureOut">
              <a:rPr lang="en-ZW" smtClean="0"/>
              <a:t>23/6/2026</a:t>
            </a:fld>
            <a:endParaRPr lang="en-ZW"/>
          </a:p>
        </p:txBody>
      </p:sp>
      <p:sp>
        <p:nvSpPr>
          <p:cNvPr id="4" name="Footer Placeholder 3"/>
          <p:cNvSpPr>
            <a:spLocks noGrp="1"/>
          </p:cNvSpPr>
          <p:nvPr>
            <p:ph type="ftr" sz="quarter" idx="11"/>
          </p:nvPr>
        </p:nvSpPr>
        <p:spPr/>
        <p:txBody>
          <a:bodyPr/>
          <a:lstStyle/>
          <a:p>
            <a:endParaRPr lang="en-ZW"/>
          </a:p>
        </p:txBody>
      </p:sp>
      <p:sp>
        <p:nvSpPr>
          <p:cNvPr id="5" name="Slide Number Placeholder 4"/>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3384280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C412A4-0253-4867-B0D4-0E5B4B7D908B}" type="datetimeFigureOut">
              <a:rPr lang="en-ZW" smtClean="0"/>
              <a:t>23/6/2026</a:t>
            </a:fld>
            <a:endParaRPr lang="en-ZW"/>
          </a:p>
        </p:txBody>
      </p:sp>
      <p:sp>
        <p:nvSpPr>
          <p:cNvPr id="3" name="Footer Placeholder 2"/>
          <p:cNvSpPr>
            <a:spLocks noGrp="1"/>
          </p:cNvSpPr>
          <p:nvPr>
            <p:ph type="ftr" sz="quarter" idx="11"/>
          </p:nvPr>
        </p:nvSpPr>
        <p:spPr/>
        <p:txBody>
          <a:bodyPr/>
          <a:lstStyle/>
          <a:p>
            <a:endParaRPr lang="en-ZW"/>
          </a:p>
        </p:txBody>
      </p:sp>
      <p:sp>
        <p:nvSpPr>
          <p:cNvPr id="4" name="Slide Number Placeholder 3"/>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3874865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C412A4-0253-4867-B0D4-0E5B4B7D908B}" type="datetimeFigureOut">
              <a:rPr lang="en-ZW" smtClean="0"/>
              <a:t>23/6/2026</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2112237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C412A4-0253-4867-B0D4-0E5B4B7D908B}" type="datetimeFigureOut">
              <a:rPr lang="en-ZW" smtClean="0"/>
              <a:t>23/6/2026</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3470900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412A4-0253-4867-B0D4-0E5B4B7D908B}" type="datetimeFigureOut">
              <a:rPr lang="en-ZW" smtClean="0"/>
              <a:t>23/6/2026</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10512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C412A4-0253-4867-B0D4-0E5B4B7D908B}" type="datetimeFigureOut">
              <a:rPr lang="en-ZW" smtClean="0"/>
              <a:t>23/6/2026</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EBD3EE4B-A6E5-4628-A488-A5CCD12EEDD4}" type="slidenum">
              <a:rPr lang="en-ZW" smtClean="0"/>
              <a:t>‹#›</a:t>
            </a:fld>
            <a:endParaRPr lang="en-ZW"/>
          </a:p>
        </p:txBody>
      </p:sp>
    </p:spTree>
    <p:extLst>
      <p:ext uri="{BB962C8B-B14F-4D97-AF65-F5344CB8AC3E}">
        <p14:creationId xmlns:p14="http://schemas.microsoft.com/office/powerpoint/2010/main" val="290825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164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C412A4-0253-4867-B0D4-0E5B4B7D908B}" type="datetimeFigureOut">
              <a:rPr lang="en-ZW" smtClean="0"/>
              <a:t>23/6/2026</a:t>
            </a:fld>
            <a:endParaRPr lang="en-ZW"/>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W"/>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D3EE4B-A6E5-4628-A488-A5CCD12EEDD4}" type="slidenum">
              <a:rPr lang="en-ZW" smtClean="0"/>
              <a:t>‹#›</a:t>
            </a:fld>
            <a:endParaRPr lang="en-ZW"/>
          </a:p>
        </p:txBody>
      </p:sp>
    </p:spTree>
    <p:extLst>
      <p:ext uri="{BB962C8B-B14F-4D97-AF65-F5344CB8AC3E}">
        <p14:creationId xmlns:p14="http://schemas.microsoft.com/office/powerpoint/2010/main" val="392995756"/>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linkedin.com/in/elmafortunatephiri/"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731520" y="975360"/>
            <a:ext cx="10363200" cy="2682240"/>
          </a:xfrm>
          <a:prstGeom prst="rect">
            <a:avLst/>
          </a:prstGeom>
          <a:noFill/>
          <a:ln/>
        </p:spPr>
        <p:txBody>
          <a:bodyPr wrap="square" lIns="0" tIns="0" rIns="0" bIns="0" rtlCol="0" anchor="ctr"/>
          <a:lstStyle/>
          <a:p>
            <a:r>
              <a:rPr lang="en-US" sz="4800" b="1" dirty="0">
                <a:solidFill>
                  <a:srgbClr val="FFFFFF"/>
                </a:solidFill>
                <a:latin typeface="Cambria" pitchFamily="34" charset="0"/>
                <a:ea typeface="Cambria" pitchFamily="34" charset="-122"/>
                <a:cs typeface="Cambria" pitchFamily="34" charset="-120"/>
              </a:rPr>
              <a:t>“Every loan that goes bad</a:t>
            </a:r>
            <a:endParaRPr lang="en-US" sz="4800" dirty="0"/>
          </a:p>
          <a:p>
            <a:r>
              <a:rPr lang="en-US" sz="4800" b="1" dirty="0">
                <a:solidFill>
                  <a:srgbClr val="FFFFFF"/>
                </a:solidFill>
                <a:latin typeface="Cambria" pitchFamily="34" charset="0"/>
                <a:ea typeface="Cambria" pitchFamily="34" charset="-122"/>
                <a:cs typeface="Cambria" pitchFamily="34" charset="-120"/>
              </a:rPr>
              <a:t>had warning signs.”</a:t>
            </a:r>
            <a:endParaRPr lang="en-US" sz="4800" dirty="0"/>
          </a:p>
        </p:txBody>
      </p:sp>
      <p:sp>
        <p:nvSpPr>
          <p:cNvPr id="4" name="Text 2"/>
          <p:cNvSpPr/>
          <p:nvPr/>
        </p:nvSpPr>
        <p:spPr>
          <a:xfrm>
            <a:off x="731520" y="3779520"/>
            <a:ext cx="10363200" cy="731520"/>
          </a:xfrm>
          <a:prstGeom prst="rect">
            <a:avLst/>
          </a:prstGeom>
          <a:noFill/>
          <a:ln/>
        </p:spPr>
        <p:txBody>
          <a:bodyPr wrap="square" lIns="0" tIns="0" rIns="0" bIns="0" rtlCol="0" anchor="ctr"/>
          <a:lstStyle/>
          <a:p>
            <a:r>
              <a:rPr lang="en-US" sz="2667" i="1" dirty="0">
                <a:solidFill>
                  <a:srgbClr val="14B8C8"/>
                </a:solidFill>
                <a:latin typeface="Calibri" pitchFamily="34" charset="0"/>
                <a:ea typeface="Calibri" pitchFamily="34" charset="-122"/>
                <a:cs typeface="Calibri" pitchFamily="34" charset="-120"/>
              </a:rPr>
              <a:t>Most banks only see them when they become NPL.</a:t>
            </a:r>
            <a:endParaRPr lang="en-US" sz="2667" dirty="0"/>
          </a:p>
        </p:txBody>
      </p:sp>
      <p:sp>
        <p:nvSpPr>
          <p:cNvPr id="6" name="Text 6">
            <a:extLst>
              <a:ext uri="{FF2B5EF4-FFF2-40B4-BE49-F238E27FC236}">
                <a16:creationId xmlns:a16="http://schemas.microsoft.com/office/drawing/2014/main" id="{14E1EC12-B572-CBEB-FBAD-4C2BE47252A1}"/>
              </a:ext>
            </a:extLst>
          </p:cNvPr>
          <p:cNvSpPr/>
          <p:nvPr/>
        </p:nvSpPr>
        <p:spPr>
          <a:xfrm>
            <a:off x="731520" y="566928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12500"/>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The Reality of Loan Risk Management</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548640" y="1280160"/>
            <a:ext cx="3474720" cy="4267200"/>
          </a:xfrm>
          <a:prstGeom prst="roundRect">
            <a:avLst>
              <a:gd name="adj" fmla="val 280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5" name="Text 3"/>
          <p:cNvSpPr/>
          <p:nvPr/>
        </p:nvSpPr>
        <p:spPr>
          <a:xfrm>
            <a:off x="670560" y="1402080"/>
            <a:ext cx="3169920" cy="73152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6" name="Text 4"/>
          <p:cNvSpPr/>
          <p:nvPr/>
        </p:nvSpPr>
        <p:spPr>
          <a:xfrm>
            <a:off x="670560" y="2194560"/>
            <a:ext cx="3169920" cy="548640"/>
          </a:xfrm>
          <a:prstGeom prst="rect">
            <a:avLst/>
          </a:prstGeom>
          <a:noFill/>
          <a:ln/>
        </p:spPr>
        <p:txBody>
          <a:bodyPr wrap="square" lIns="0" tIns="0" rIns="0" bIns="0" rtlCol="0" anchor="ctr"/>
          <a:lstStyle/>
          <a:p>
            <a:pPr algn="ctr"/>
            <a:r>
              <a:rPr lang="en-US" sz="1733" b="1" dirty="0">
                <a:solidFill>
                  <a:srgbClr val="0D1F3C"/>
                </a:solidFill>
                <a:latin typeface="Cambria" pitchFamily="34" charset="0"/>
                <a:ea typeface="Cambria" pitchFamily="34" charset="-122"/>
                <a:cs typeface="Cambria" pitchFamily="34" charset="-120"/>
              </a:rPr>
              <a:t>Reactive, Not Proactive</a:t>
            </a:r>
            <a:endParaRPr lang="en-US" sz="1733" dirty="0"/>
          </a:p>
        </p:txBody>
      </p:sp>
      <p:sp>
        <p:nvSpPr>
          <p:cNvPr id="7" name="Text 5"/>
          <p:cNvSpPr/>
          <p:nvPr/>
        </p:nvSpPr>
        <p:spPr>
          <a:xfrm>
            <a:off x="731520" y="2865120"/>
            <a:ext cx="3108960" cy="2194560"/>
          </a:xfrm>
          <a:prstGeom prst="rect">
            <a:avLst/>
          </a:prstGeom>
          <a:noFill/>
          <a:ln/>
        </p:spPr>
        <p:txBody>
          <a:bodyPr wrap="square" lIns="67733" tIns="67733" rIns="67733" bIns="67733" rtlCol="0" anchor="ctr"/>
          <a:lstStyle/>
          <a:p>
            <a:r>
              <a:rPr lang="en-US" sz="1600" dirty="0">
                <a:solidFill>
                  <a:srgbClr val="4A6478"/>
                </a:solidFill>
                <a:latin typeface="Calibri" pitchFamily="34" charset="0"/>
                <a:ea typeface="Calibri" pitchFamily="34" charset="-122"/>
                <a:cs typeface="Calibri" pitchFamily="34" charset="-120"/>
              </a:rPr>
              <a:t>Risk is assessed at origination. After that, monitoring is mostly manual and periodic.</a:t>
            </a:r>
            <a:endParaRPr lang="en-US" sz="1600" dirty="0"/>
          </a:p>
        </p:txBody>
      </p:sp>
      <p:sp>
        <p:nvSpPr>
          <p:cNvPr id="8" name="Shape 6"/>
          <p:cNvSpPr/>
          <p:nvPr/>
        </p:nvSpPr>
        <p:spPr>
          <a:xfrm>
            <a:off x="4328160" y="1280160"/>
            <a:ext cx="3474720" cy="4267200"/>
          </a:xfrm>
          <a:prstGeom prst="roundRect">
            <a:avLst>
              <a:gd name="adj" fmla="val 280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9" name="Text 7"/>
          <p:cNvSpPr/>
          <p:nvPr/>
        </p:nvSpPr>
        <p:spPr>
          <a:xfrm>
            <a:off x="4450080" y="1402080"/>
            <a:ext cx="3169920" cy="73152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0" name="Text 8"/>
          <p:cNvSpPr/>
          <p:nvPr/>
        </p:nvSpPr>
        <p:spPr>
          <a:xfrm>
            <a:off x="4450080" y="2194560"/>
            <a:ext cx="3169920" cy="548640"/>
          </a:xfrm>
          <a:prstGeom prst="rect">
            <a:avLst/>
          </a:prstGeom>
          <a:noFill/>
          <a:ln/>
        </p:spPr>
        <p:txBody>
          <a:bodyPr wrap="square" lIns="0" tIns="0" rIns="0" bIns="0" rtlCol="0" anchor="ctr"/>
          <a:lstStyle/>
          <a:p>
            <a:pPr algn="ctr"/>
            <a:r>
              <a:rPr lang="en-US" sz="1733" b="1" dirty="0">
                <a:solidFill>
                  <a:srgbClr val="0D1F3C"/>
                </a:solidFill>
                <a:latin typeface="Cambria" pitchFamily="34" charset="0"/>
                <a:ea typeface="Cambria" pitchFamily="34" charset="-122"/>
                <a:cs typeface="Cambria" pitchFamily="34" charset="-120"/>
              </a:rPr>
              <a:t>Lag in Detection</a:t>
            </a:r>
            <a:endParaRPr lang="en-US" sz="1733" dirty="0"/>
          </a:p>
        </p:txBody>
      </p:sp>
      <p:sp>
        <p:nvSpPr>
          <p:cNvPr id="11" name="Text 9"/>
          <p:cNvSpPr/>
          <p:nvPr/>
        </p:nvSpPr>
        <p:spPr>
          <a:xfrm>
            <a:off x="4511040" y="2865120"/>
            <a:ext cx="3108960" cy="2194560"/>
          </a:xfrm>
          <a:prstGeom prst="rect">
            <a:avLst/>
          </a:prstGeom>
          <a:noFill/>
          <a:ln/>
        </p:spPr>
        <p:txBody>
          <a:bodyPr wrap="square" lIns="67733" tIns="67733" rIns="67733" bIns="67733" rtlCol="0" anchor="ctr"/>
          <a:lstStyle/>
          <a:p>
            <a:r>
              <a:rPr lang="en-US" sz="1600" dirty="0">
                <a:solidFill>
                  <a:srgbClr val="4A6478"/>
                </a:solidFill>
                <a:latin typeface="Calibri" pitchFamily="34" charset="0"/>
                <a:ea typeface="Calibri" pitchFamily="34" charset="-122"/>
                <a:cs typeface="Calibri" pitchFamily="34" charset="-120"/>
              </a:rPr>
              <a:t>By the time a loan is classified as Non-Performing, losses are already locked in.</a:t>
            </a:r>
            <a:endParaRPr lang="en-US" sz="1600" dirty="0"/>
          </a:p>
        </p:txBody>
      </p:sp>
      <p:sp>
        <p:nvSpPr>
          <p:cNvPr id="12" name="Shape 10"/>
          <p:cNvSpPr/>
          <p:nvPr/>
        </p:nvSpPr>
        <p:spPr>
          <a:xfrm>
            <a:off x="8107680" y="1280160"/>
            <a:ext cx="3474720" cy="4267200"/>
          </a:xfrm>
          <a:prstGeom prst="roundRect">
            <a:avLst>
              <a:gd name="adj" fmla="val 280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3" name="Text 11"/>
          <p:cNvSpPr/>
          <p:nvPr/>
        </p:nvSpPr>
        <p:spPr>
          <a:xfrm>
            <a:off x="8229600" y="1402080"/>
            <a:ext cx="3169920" cy="731520"/>
          </a:xfrm>
          <a:prstGeom prst="rect">
            <a:avLst/>
          </a:prstGeom>
          <a:noFill/>
          <a:ln/>
        </p:spPr>
        <p:txBody>
          <a:bodyPr wrap="square" lIns="0" tIns="0" rIns="0" bIns="0" rtlCol="0" anchor="ctr"/>
          <a:lstStyle/>
          <a:p>
            <a:pPr algn="ctr"/>
            <a:r>
              <a:rPr lang="en-US" sz="3733" dirty="0">
                <a:solidFill>
                  <a:srgbClr val="000000"/>
                </a:solidFill>
              </a:rPr>
              <a:t>💸</a:t>
            </a:r>
            <a:endParaRPr lang="en-US" sz="3733" dirty="0"/>
          </a:p>
        </p:txBody>
      </p:sp>
      <p:sp>
        <p:nvSpPr>
          <p:cNvPr id="14" name="Text 12"/>
          <p:cNvSpPr/>
          <p:nvPr/>
        </p:nvSpPr>
        <p:spPr>
          <a:xfrm>
            <a:off x="8229600" y="2194560"/>
            <a:ext cx="3169920" cy="548640"/>
          </a:xfrm>
          <a:prstGeom prst="rect">
            <a:avLst/>
          </a:prstGeom>
          <a:noFill/>
          <a:ln/>
        </p:spPr>
        <p:txBody>
          <a:bodyPr wrap="square" lIns="0" tIns="0" rIns="0" bIns="0" rtlCol="0" anchor="ctr"/>
          <a:lstStyle/>
          <a:p>
            <a:pPr algn="ctr"/>
            <a:r>
              <a:rPr lang="en-US" sz="1733" b="1" dirty="0">
                <a:solidFill>
                  <a:srgbClr val="0D1F3C"/>
                </a:solidFill>
                <a:latin typeface="Cambria" pitchFamily="34" charset="0"/>
                <a:ea typeface="Cambria" pitchFamily="34" charset="-122"/>
                <a:cs typeface="Cambria" pitchFamily="34" charset="-120"/>
              </a:rPr>
              <a:t>The Cost of Acting Late</a:t>
            </a:r>
            <a:endParaRPr lang="en-US" sz="1733" dirty="0"/>
          </a:p>
        </p:txBody>
      </p:sp>
      <p:sp>
        <p:nvSpPr>
          <p:cNvPr id="15" name="Text 13"/>
          <p:cNvSpPr/>
          <p:nvPr/>
        </p:nvSpPr>
        <p:spPr>
          <a:xfrm>
            <a:off x="8290560" y="2865120"/>
            <a:ext cx="3108960" cy="2194560"/>
          </a:xfrm>
          <a:prstGeom prst="rect">
            <a:avLst/>
          </a:prstGeom>
          <a:noFill/>
          <a:ln/>
        </p:spPr>
        <p:txBody>
          <a:bodyPr wrap="square" lIns="67733" tIns="67733" rIns="67733" bIns="67733" rtlCol="0" anchor="ctr"/>
          <a:lstStyle/>
          <a:p>
            <a:r>
              <a:rPr lang="en-US" sz="1600" dirty="0">
                <a:solidFill>
                  <a:srgbClr val="4A6478"/>
                </a:solidFill>
                <a:latin typeface="Calibri" pitchFamily="34" charset="0"/>
                <a:ea typeface="Calibri" pitchFamily="34" charset="-122"/>
                <a:cs typeface="Calibri" pitchFamily="34" charset="-120"/>
              </a:rPr>
              <a:t>Late intervention means higher provisions, write-offs, and regulatory penalties.</a:t>
            </a:r>
            <a:endParaRPr lang="en-US" sz="1600" dirty="0"/>
          </a:p>
        </p:txBody>
      </p:sp>
      <p:sp>
        <p:nvSpPr>
          <p:cNvPr id="16" name="Text 6">
            <a:extLst>
              <a:ext uri="{FF2B5EF4-FFF2-40B4-BE49-F238E27FC236}">
                <a16:creationId xmlns:a16="http://schemas.microsoft.com/office/drawing/2014/main" id="{B1D96550-C9C2-D8F1-A263-BE46AAA9D273}"/>
              </a:ext>
            </a:extLst>
          </p:cNvPr>
          <p:cNvSpPr/>
          <p:nvPr/>
        </p:nvSpPr>
        <p:spPr>
          <a:xfrm>
            <a:off x="731520" y="566928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731520" y="426720"/>
            <a:ext cx="10972800" cy="609600"/>
          </a:xfrm>
          <a:prstGeom prst="rect">
            <a:avLst/>
          </a:prstGeom>
          <a:noFill/>
          <a:ln/>
        </p:spPr>
        <p:txBody>
          <a:bodyPr wrap="square" lIns="0" tIns="0" rIns="0" bIns="0" rtlCol="0" anchor="ctr"/>
          <a:lstStyle/>
          <a:p>
            <a:r>
              <a:rPr lang="en-US" sz="1733" b="1" kern="0" spc="267" dirty="0">
                <a:solidFill>
                  <a:srgbClr val="14B8C8"/>
                </a:solidFill>
                <a:latin typeface="Calibri" pitchFamily="34" charset="0"/>
                <a:ea typeface="Calibri" pitchFamily="34" charset="-122"/>
                <a:cs typeface="Calibri" pitchFamily="34" charset="-120"/>
              </a:rPr>
              <a:t>The Question this project set out to answer</a:t>
            </a:r>
            <a:endParaRPr lang="en-US" sz="1733" dirty="0"/>
          </a:p>
        </p:txBody>
      </p:sp>
      <p:sp>
        <p:nvSpPr>
          <p:cNvPr id="4" name="Text 2"/>
          <p:cNvSpPr/>
          <p:nvPr/>
        </p:nvSpPr>
        <p:spPr>
          <a:xfrm>
            <a:off x="731520" y="1280160"/>
            <a:ext cx="10363200" cy="2194560"/>
          </a:xfrm>
          <a:prstGeom prst="rect">
            <a:avLst/>
          </a:prstGeom>
          <a:noFill/>
          <a:ln/>
        </p:spPr>
        <p:txBody>
          <a:bodyPr wrap="square" lIns="0" tIns="0" rIns="0" bIns="0" rtlCol="0" anchor="ctr"/>
          <a:lstStyle/>
          <a:p>
            <a:r>
              <a:rPr lang="en-US" sz="4533" b="1" dirty="0">
                <a:solidFill>
                  <a:srgbClr val="FFFFFF"/>
                </a:solidFill>
                <a:latin typeface="Cambria" pitchFamily="34" charset="0"/>
                <a:ea typeface="Cambria" pitchFamily="34" charset="-122"/>
                <a:cs typeface="Cambria" pitchFamily="34" charset="-120"/>
              </a:rPr>
              <a:t>What if we could flag a borrower</a:t>
            </a:r>
            <a:endParaRPr lang="en-US" sz="4533" dirty="0"/>
          </a:p>
          <a:p>
            <a:r>
              <a:rPr lang="en-US" sz="4533" b="1" dirty="0">
                <a:solidFill>
                  <a:srgbClr val="FFFFFF"/>
                </a:solidFill>
                <a:latin typeface="Cambria" pitchFamily="34" charset="0"/>
                <a:ea typeface="Cambria" pitchFamily="34" charset="-122"/>
                <a:cs typeface="Cambria" pitchFamily="34" charset="-120"/>
              </a:rPr>
              <a:t>deteriorating 3–6 months before default?</a:t>
            </a:r>
            <a:endParaRPr lang="en-US" sz="4533" dirty="0"/>
          </a:p>
        </p:txBody>
      </p:sp>
      <p:sp>
        <p:nvSpPr>
          <p:cNvPr id="5" name="Text 3"/>
          <p:cNvSpPr/>
          <p:nvPr/>
        </p:nvSpPr>
        <p:spPr>
          <a:xfrm>
            <a:off x="731520" y="3779520"/>
            <a:ext cx="670560" cy="548640"/>
          </a:xfrm>
          <a:prstGeom prst="rect">
            <a:avLst/>
          </a:prstGeom>
          <a:noFill/>
          <a:ln/>
        </p:spPr>
        <p:txBody>
          <a:bodyPr wrap="square" lIns="0" tIns="0" rIns="0" bIns="0" rtlCol="0" anchor="ctr"/>
          <a:lstStyle/>
          <a:p>
            <a:r>
              <a:rPr lang="en-US" sz="2400" b="1" dirty="0">
                <a:solidFill>
                  <a:srgbClr val="0A7E8C"/>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524000" y="3828288"/>
            <a:ext cx="8534400" cy="463296"/>
          </a:xfrm>
          <a:prstGeom prst="rect">
            <a:avLst/>
          </a:prstGeom>
          <a:noFill/>
          <a:ln/>
        </p:spPr>
        <p:txBody>
          <a:bodyPr wrap="square" lIns="0" tIns="0" rIns="0" bIns="0" rtlCol="0" anchor="ctr"/>
          <a:lstStyle/>
          <a:p>
            <a:r>
              <a:rPr lang="en-US" sz="2000" dirty="0">
                <a:solidFill>
                  <a:srgbClr val="FFFFFF"/>
                </a:solidFill>
                <a:latin typeface="Calibri" pitchFamily="34" charset="0"/>
                <a:ea typeface="Calibri" pitchFamily="34" charset="-122"/>
                <a:cs typeface="Calibri" pitchFamily="34" charset="-120"/>
              </a:rPr>
              <a:t>Detect risky loans early</a:t>
            </a:r>
            <a:endParaRPr lang="en-US" sz="2000" dirty="0"/>
          </a:p>
        </p:txBody>
      </p:sp>
      <p:sp>
        <p:nvSpPr>
          <p:cNvPr id="7" name="Text 5"/>
          <p:cNvSpPr/>
          <p:nvPr/>
        </p:nvSpPr>
        <p:spPr>
          <a:xfrm>
            <a:off x="731520" y="4535424"/>
            <a:ext cx="670560" cy="548640"/>
          </a:xfrm>
          <a:prstGeom prst="rect">
            <a:avLst/>
          </a:prstGeom>
          <a:noFill/>
          <a:ln/>
        </p:spPr>
        <p:txBody>
          <a:bodyPr wrap="square" lIns="0" tIns="0" rIns="0" bIns="0" rtlCol="0" anchor="ctr"/>
          <a:lstStyle/>
          <a:p>
            <a:r>
              <a:rPr lang="en-US" sz="2400" b="1" dirty="0">
                <a:solidFill>
                  <a:srgbClr val="0A7E8C"/>
                </a:solidFill>
                <a:latin typeface="Cambria" pitchFamily="34" charset="0"/>
                <a:ea typeface="Cambria" pitchFamily="34" charset="-122"/>
                <a:cs typeface="Cambria" pitchFamily="34" charset="-120"/>
              </a:rPr>
              <a:t>02</a:t>
            </a:r>
            <a:endParaRPr lang="en-US" sz="2400" dirty="0"/>
          </a:p>
        </p:txBody>
      </p:sp>
      <p:sp>
        <p:nvSpPr>
          <p:cNvPr id="8" name="Text 6"/>
          <p:cNvSpPr/>
          <p:nvPr/>
        </p:nvSpPr>
        <p:spPr>
          <a:xfrm>
            <a:off x="1524000" y="4584192"/>
            <a:ext cx="8534400" cy="463296"/>
          </a:xfrm>
          <a:prstGeom prst="rect">
            <a:avLst/>
          </a:prstGeom>
          <a:noFill/>
          <a:ln/>
        </p:spPr>
        <p:txBody>
          <a:bodyPr wrap="square" lIns="0" tIns="0" rIns="0" bIns="0" rtlCol="0" anchor="ctr"/>
          <a:lstStyle/>
          <a:p>
            <a:r>
              <a:rPr lang="en-US" sz="2000" dirty="0">
                <a:solidFill>
                  <a:srgbClr val="FFFFFF"/>
                </a:solidFill>
                <a:latin typeface="Calibri" pitchFamily="34" charset="0"/>
                <a:ea typeface="Calibri" pitchFamily="34" charset="-122"/>
                <a:cs typeface="Calibri" pitchFamily="34" charset="-120"/>
              </a:rPr>
              <a:t>Monitor portfolio health continuously</a:t>
            </a:r>
            <a:endParaRPr lang="en-US" sz="2000" dirty="0"/>
          </a:p>
        </p:txBody>
      </p:sp>
      <p:sp>
        <p:nvSpPr>
          <p:cNvPr id="9" name="Text 7"/>
          <p:cNvSpPr/>
          <p:nvPr/>
        </p:nvSpPr>
        <p:spPr>
          <a:xfrm>
            <a:off x="731520" y="5291328"/>
            <a:ext cx="670560" cy="548640"/>
          </a:xfrm>
          <a:prstGeom prst="rect">
            <a:avLst/>
          </a:prstGeom>
          <a:noFill/>
          <a:ln/>
        </p:spPr>
        <p:txBody>
          <a:bodyPr wrap="square" lIns="0" tIns="0" rIns="0" bIns="0" rtlCol="0" anchor="ctr"/>
          <a:lstStyle/>
          <a:p>
            <a:r>
              <a:rPr lang="en-US" sz="2400" b="1" dirty="0">
                <a:solidFill>
                  <a:srgbClr val="0A7E8C"/>
                </a:solidFill>
                <a:latin typeface="Cambria" pitchFamily="34" charset="0"/>
                <a:ea typeface="Cambria" pitchFamily="34" charset="-122"/>
                <a:cs typeface="Cambria" pitchFamily="34" charset="-120"/>
              </a:rPr>
              <a:t>03</a:t>
            </a:r>
            <a:endParaRPr lang="en-US" sz="2400" dirty="0"/>
          </a:p>
        </p:txBody>
      </p:sp>
      <p:sp>
        <p:nvSpPr>
          <p:cNvPr id="10" name="Text 8"/>
          <p:cNvSpPr/>
          <p:nvPr/>
        </p:nvSpPr>
        <p:spPr>
          <a:xfrm>
            <a:off x="1524000" y="5340096"/>
            <a:ext cx="8534400" cy="463296"/>
          </a:xfrm>
          <a:prstGeom prst="rect">
            <a:avLst/>
          </a:prstGeom>
          <a:noFill/>
          <a:ln/>
        </p:spPr>
        <p:txBody>
          <a:bodyPr wrap="square" lIns="0" tIns="0" rIns="0" bIns="0" rtlCol="0" anchor="ctr"/>
          <a:lstStyle/>
          <a:p>
            <a:r>
              <a:rPr lang="en-US" sz="2000" dirty="0">
                <a:solidFill>
                  <a:srgbClr val="FFFFFF"/>
                </a:solidFill>
                <a:latin typeface="Calibri" pitchFamily="34" charset="0"/>
                <a:ea typeface="Calibri" pitchFamily="34" charset="-122"/>
                <a:cs typeface="Calibri" pitchFamily="34" charset="-120"/>
              </a:rPr>
              <a:t>Support intervention decisions</a:t>
            </a:r>
            <a:endParaRPr lang="en-US" sz="2000" dirty="0"/>
          </a:p>
        </p:txBody>
      </p:sp>
      <p:sp>
        <p:nvSpPr>
          <p:cNvPr id="11" name="Text 6">
            <a:extLst>
              <a:ext uri="{FF2B5EF4-FFF2-40B4-BE49-F238E27FC236}">
                <a16:creationId xmlns:a16="http://schemas.microsoft.com/office/drawing/2014/main" id="{E90F5ABF-F682-FEC4-D368-31AA66487AFD}"/>
              </a:ext>
            </a:extLst>
          </p:cNvPr>
          <p:cNvSpPr/>
          <p:nvPr/>
        </p:nvSpPr>
        <p:spPr>
          <a:xfrm>
            <a:off x="731520" y="6317588"/>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Dataset Overview</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548640" y="1072896"/>
            <a:ext cx="11094720" cy="926592"/>
          </a:xfrm>
          <a:prstGeom prst="roundRect">
            <a:avLst>
              <a:gd name="adj" fmla="val 6667"/>
            </a:avLst>
          </a:prstGeom>
          <a:solidFill>
            <a:srgbClr val="E8F8FA"/>
          </a:solidFill>
          <a:ln w="12700">
            <a:solidFill>
              <a:srgbClr val="D0E8EC"/>
            </a:solidFill>
            <a:prstDash val="solid"/>
          </a:ln>
          <a:effectLst>
            <a:outerShdw blurRad="76200" dist="25400" dir="2700000" algn="bl" rotWithShape="0">
              <a:srgbClr val="000000">
                <a:alpha val="12000"/>
              </a:srgbClr>
            </a:outerShdw>
          </a:effectLst>
        </p:spPr>
      </p:sp>
      <p:sp>
        <p:nvSpPr>
          <p:cNvPr id="5" name="Text 3"/>
          <p:cNvSpPr/>
          <p:nvPr/>
        </p:nvSpPr>
        <p:spPr>
          <a:xfrm>
            <a:off x="792480" y="1280160"/>
            <a:ext cx="10363200" cy="365760"/>
          </a:xfrm>
          <a:prstGeom prst="rect">
            <a:avLst/>
          </a:prstGeom>
          <a:noFill/>
          <a:ln/>
        </p:spPr>
        <p:txBody>
          <a:bodyPr wrap="square" lIns="0" tIns="0" rIns="0" bIns="0" rtlCol="0" anchor="ctr"/>
          <a:lstStyle/>
          <a:p>
            <a:r>
              <a:rPr lang="en-US" sz="1467" b="1" kern="0" spc="133" dirty="0">
                <a:solidFill>
                  <a:srgbClr val="0A7E8C"/>
                </a:solidFill>
                <a:latin typeface="Calibri" pitchFamily="34" charset="0"/>
                <a:ea typeface="Calibri" pitchFamily="34" charset="-122"/>
                <a:cs typeface="Calibri" pitchFamily="34" charset="-120"/>
              </a:rPr>
              <a:t>Loan portfolio dataset containing 5000 loan records. This dataset is designed for credit risk assessment and loan performance monitoring</a:t>
            </a:r>
            <a:endParaRPr lang="en-US" sz="1467" dirty="0"/>
          </a:p>
        </p:txBody>
      </p:sp>
      <p:sp>
        <p:nvSpPr>
          <p:cNvPr id="6" name="Text 4"/>
          <p:cNvSpPr/>
          <p:nvPr/>
        </p:nvSpPr>
        <p:spPr>
          <a:xfrm>
            <a:off x="792480" y="1682496"/>
            <a:ext cx="10363200" cy="670560"/>
          </a:xfrm>
          <a:prstGeom prst="rect">
            <a:avLst/>
          </a:prstGeom>
          <a:noFill/>
          <a:ln/>
        </p:spPr>
        <p:txBody>
          <a:bodyPr wrap="square" lIns="0" tIns="0" rIns="0" bIns="0" rtlCol="0" anchor="ctr"/>
          <a:lstStyle/>
          <a:p>
            <a:endParaRPr lang="en-US" sz="1733" dirty="0"/>
          </a:p>
        </p:txBody>
      </p:sp>
      <p:sp>
        <p:nvSpPr>
          <p:cNvPr id="7" name="Shape 5"/>
          <p:cNvSpPr/>
          <p:nvPr/>
        </p:nvSpPr>
        <p:spPr>
          <a:xfrm>
            <a:off x="365760" y="2275142"/>
            <a:ext cx="5242560" cy="1402080"/>
          </a:xfrm>
          <a:prstGeom prst="roundRect">
            <a:avLst>
              <a:gd name="adj" fmla="val 695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8" name="Text 6"/>
          <p:cNvSpPr/>
          <p:nvPr/>
        </p:nvSpPr>
        <p:spPr>
          <a:xfrm>
            <a:off x="548640" y="2324045"/>
            <a:ext cx="4876800" cy="365760"/>
          </a:xfrm>
          <a:prstGeom prst="rect">
            <a:avLst/>
          </a:prstGeom>
          <a:noFill/>
          <a:ln/>
        </p:spPr>
        <p:txBody>
          <a:bodyPr wrap="square" lIns="0" tIns="0" rIns="0" bIns="0" rtlCol="0" anchor="ctr"/>
          <a:lstStyle/>
          <a:p>
            <a:r>
              <a:rPr lang="en-US" sz="1600" b="1" dirty="0">
                <a:solidFill>
                  <a:srgbClr val="0A7E8C"/>
                </a:solidFill>
                <a:latin typeface="Cambria" pitchFamily="34" charset="0"/>
                <a:ea typeface="Cambria" pitchFamily="34" charset="-122"/>
                <a:cs typeface="Cambria" pitchFamily="34" charset="-120"/>
              </a:rPr>
              <a:t>Borrower Profile</a:t>
            </a:r>
            <a:endParaRPr lang="en-US" sz="1600" dirty="0"/>
          </a:p>
        </p:txBody>
      </p:sp>
      <p:sp>
        <p:nvSpPr>
          <p:cNvPr id="9" name="Text 7"/>
          <p:cNvSpPr/>
          <p:nvPr/>
        </p:nvSpPr>
        <p:spPr>
          <a:xfrm>
            <a:off x="548640" y="2552299"/>
            <a:ext cx="4876800" cy="755904"/>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Credit Score, Annual Income, Employment, Province, Sector</a:t>
            </a:r>
            <a:endParaRPr lang="en-US" sz="1467" dirty="0"/>
          </a:p>
        </p:txBody>
      </p:sp>
      <p:sp>
        <p:nvSpPr>
          <p:cNvPr id="10" name="Shape 8"/>
          <p:cNvSpPr/>
          <p:nvPr/>
        </p:nvSpPr>
        <p:spPr>
          <a:xfrm>
            <a:off x="6035040" y="2275142"/>
            <a:ext cx="5242560" cy="1402080"/>
          </a:xfrm>
          <a:prstGeom prst="roundRect">
            <a:avLst>
              <a:gd name="adj" fmla="val 695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1" name="Text 9"/>
          <p:cNvSpPr/>
          <p:nvPr/>
        </p:nvSpPr>
        <p:spPr>
          <a:xfrm>
            <a:off x="6278880" y="2318776"/>
            <a:ext cx="4876800" cy="365760"/>
          </a:xfrm>
          <a:prstGeom prst="rect">
            <a:avLst/>
          </a:prstGeom>
          <a:noFill/>
          <a:ln/>
        </p:spPr>
        <p:txBody>
          <a:bodyPr wrap="square" lIns="0" tIns="0" rIns="0" bIns="0" rtlCol="0" anchor="ctr"/>
          <a:lstStyle/>
          <a:p>
            <a:r>
              <a:rPr lang="en-US" sz="1600" b="1" dirty="0">
                <a:solidFill>
                  <a:srgbClr val="0A7E8C"/>
                </a:solidFill>
                <a:latin typeface="Cambria" pitchFamily="34" charset="0"/>
                <a:ea typeface="Cambria" pitchFamily="34" charset="-122"/>
                <a:cs typeface="Cambria" pitchFamily="34" charset="-120"/>
              </a:rPr>
              <a:t>Loan Characteristics</a:t>
            </a:r>
            <a:endParaRPr lang="en-US" sz="1600" dirty="0"/>
          </a:p>
        </p:txBody>
      </p:sp>
      <p:sp>
        <p:nvSpPr>
          <p:cNvPr id="12" name="Text 10"/>
          <p:cNvSpPr/>
          <p:nvPr/>
        </p:nvSpPr>
        <p:spPr>
          <a:xfrm>
            <a:off x="6217920" y="2669516"/>
            <a:ext cx="4876800" cy="755904"/>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Loan Amount, Tenor, Interest Rate, Collateral Type &amp; Value, Loan Product</a:t>
            </a:r>
            <a:endParaRPr lang="en-US" sz="1467" dirty="0"/>
          </a:p>
        </p:txBody>
      </p:sp>
      <p:sp>
        <p:nvSpPr>
          <p:cNvPr id="13" name="Shape 11"/>
          <p:cNvSpPr/>
          <p:nvPr/>
        </p:nvSpPr>
        <p:spPr>
          <a:xfrm>
            <a:off x="548640" y="4572000"/>
            <a:ext cx="5242560" cy="1402080"/>
          </a:xfrm>
          <a:prstGeom prst="roundRect">
            <a:avLst>
              <a:gd name="adj" fmla="val 695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4" name="Text 12"/>
          <p:cNvSpPr/>
          <p:nvPr/>
        </p:nvSpPr>
        <p:spPr>
          <a:xfrm>
            <a:off x="731520" y="4693920"/>
            <a:ext cx="4876800" cy="365760"/>
          </a:xfrm>
          <a:prstGeom prst="rect">
            <a:avLst/>
          </a:prstGeom>
          <a:noFill/>
          <a:ln/>
        </p:spPr>
        <p:txBody>
          <a:bodyPr wrap="square" lIns="0" tIns="0" rIns="0" bIns="0" rtlCol="0" anchor="ctr"/>
          <a:lstStyle/>
          <a:p>
            <a:r>
              <a:rPr lang="en-US" sz="1600" b="1" dirty="0">
                <a:solidFill>
                  <a:srgbClr val="0A7E8C"/>
                </a:solidFill>
                <a:latin typeface="Cambria" pitchFamily="34" charset="0"/>
                <a:ea typeface="Cambria" pitchFamily="34" charset="-122"/>
                <a:cs typeface="Cambria" pitchFamily="34" charset="-120"/>
              </a:rPr>
              <a:t>Repayment Behaviour</a:t>
            </a:r>
            <a:endParaRPr lang="en-US" sz="1600" dirty="0"/>
          </a:p>
        </p:txBody>
      </p:sp>
      <p:sp>
        <p:nvSpPr>
          <p:cNvPr id="15" name="Text 13"/>
          <p:cNvSpPr/>
          <p:nvPr/>
        </p:nvSpPr>
        <p:spPr>
          <a:xfrm>
            <a:off x="731520" y="5084064"/>
            <a:ext cx="4876800" cy="755904"/>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Days Past Due (DPD), Missed Payments, Bank Balance Trend, Revolving Utilisation</a:t>
            </a:r>
            <a:endParaRPr lang="en-US" sz="1467" dirty="0"/>
          </a:p>
        </p:txBody>
      </p:sp>
      <p:sp>
        <p:nvSpPr>
          <p:cNvPr id="16" name="Shape 14"/>
          <p:cNvSpPr/>
          <p:nvPr/>
        </p:nvSpPr>
        <p:spPr>
          <a:xfrm>
            <a:off x="6156960" y="4572000"/>
            <a:ext cx="5242560" cy="1402080"/>
          </a:xfrm>
          <a:prstGeom prst="roundRect">
            <a:avLst>
              <a:gd name="adj" fmla="val 6957"/>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7" name="Text 15"/>
          <p:cNvSpPr/>
          <p:nvPr/>
        </p:nvSpPr>
        <p:spPr>
          <a:xfrm>
            <a:off x="6339840" y="4693920"/>
            <a:ext cx="4876800" cy="365760"/>
          </a:xfrm>
          <a:prstGeom prst="rect">
            <a:avLst/>
          </a:prstGeom>
          <a:noFill/>
          <a:ln/>
        </p:spPr>
        <p:txBody>
          <a:bodyPr wrap="square" lIns="0" tIns="0" rIns="0" bIns="0" rtlCol="0" anchor="ctr"/>
          <a:lstStyle/>
          <a:p>
            <a:r>
              <a:rPr lang="en-US" sz="1600" b="1" dirty="0">
                <a:solidFill>
                  <a:srgbClr val="0A7E8C"/>
                </a:solidFill>
                <a:latin typeface="Cambria" pitchFamily="34" charset="0"/>
                <a:ea typeface="Cambria" pitchFamily="34" charset="-122"/>
                <a:cs typeface="Cambria" pitchFamily="34" charset="-120"/>
              </a:rPr>
              <a:t>Derived Ratios</a:t>
            </a:r>
            <a:endParaRPr lang="en-US" sz="1600" dirty="0"/>
          </a:p>
        </p:txBody>
      </p:sp>
      <p:sp>
        <p:nvSpPr>
          <p:cNvPr id="18" name="Text 16"/>
          <p:cNvSpPr/>
          <p:nvPr/>
        </p:nvSpPr>
        <p:spPr>
          <a:xfrm>
            <a:off x="6339840" y="5084064"/>
            <a:ext cx="4876800" cy="755904"/>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LTV (%), DTI (%), DSCR,</a:t>
            </a:r>
            <a:endParaRPr lang="en-US" sz="1467" dirty="0"/>
          </a:p>
        </p:txBody>
      </p:sp>
      <p:sp>
        <p:nvSpPr>
          <p:cNvPr id="19" name="Text 6">
            <a:extLst>
              <a:ext uri="{FF2B5EF4-FFF2-40B4-BE49-F238E27FC236}">
                <a16:creationId xmlns:a16="http://schemas.microsoft.com/office/drawing/2014/main" id="{C0009EB1-2E47-7DF0-1F47-A04EB704AC56}"/>
              </a:ext>
            </a:extLst>
          </p:cNvPr>
          <p:cNvSpPr/>
          <p:nvPr/>
        </p:nvSpPr>
        <p:spPr>
          <a:xfrm>
            <a:off x="548640" y="634342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What the Data Told Us</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548640" y="115824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5" name="Text 3"/>
          <p:cNvSpPr/>
          <p:nvPr/>
        </p:nvSpPr>
        <p:spPr>
          <a:xfrm>
            <a:off x="768096" y="134112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Credit Score = Strongest Signal</a:t>
            </a:r>
            <a:endParaRPr lang="en-US" sz="1733" dirty="0"/>
          </a:p>
        </p:txBody>
      </p:sp>
      <p:sp>
        <p:nvSpPr>
          <p:cNvPr id="6" name="Text 4"/>
          <p:cNvSpPr/>
          <p:nvPr/>
        </p:nvSpPr>
        <p:spPr>
          <a:xfrm>
            <a:off x="768096" y="1865376"/>
            <a:ext cx="4754880" cy="950976"/>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The correlation analysis confirmed credit score as the best single predictor of repayment. Higher scores, lower risk.</a:t>
            </a:r>
            <a:endParaRPr lang="en-US" sz="1600" dirty="0"/>
          </a:p>
        </p:txBody>
      </p:sp>
      <p:sp>
        <p:nvSpPr>
          <p:cNvPr id="7" name="Shape 5"/>
          <p:cNvSpPr/>
          <p:nvPr/>
        </p:nvSpPr>
        <p:spPr>
          <a:xfrm>
            <a:off x="6278880" y="115824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8" name="Text 6"/>
          <p:cNvSpPr/>
          <p:nvPr/>
        </p:nvSpPr>
        <p:spPr>
          <a:xfrm>
            <a:off x="6498336" y="134112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Provincial Loan Distribution</a:t>
            </a:r>
            <a:endParaRPr lang="en-US" sz="1733" dirty="0"/>
          </a:p>
        </p:txBody>
      </p:sp>
      <p:sp>
        <p:nvSpPr>
          <p:cNvPr id="9" name="Text 7"/>
          <p:cNvSpPr/>
          <p:nvPr/>
        </p:nvSpPr>
        <p:spPr>
          <a:xfrm>
            <a:off x="6498336" y="1865376"/>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48640" y="371856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1" name="Text 9"/>
          <p:cNvSpPr/>
          <p:nvPr/>
        </p:nvSpPr>
        <p:spPr>
          <a:xfrm>
            <a:off x="768096" y="390144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Borrower’s Sector</a:t>
            </a:r>
            <a:endParaRPr lang="en-US" sz="1733" dirty="0"/>
          </a:p>
        </p:txBody>
      </p:sp>
      <p:sp>
        <p:nvSpPr>
          <p:cNvPr id="12" name="Text 10"/>
          <p:cNvSpPr/>
          <p:nvPr/>
        </p:nvSpPr>
        <p:spPr>
          <a:xfrm>
            <a:off x="768096" y="4425696"/>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The Agricultural Sector makes up  17.42% of the borrowers followed by  Retail at 16.36% then Manufacturing at 9.64%</a:t>
            </a:r>
            <a:endParaRPr lang="en-US" sz="1600" dirty="0"/>
          </a:p>
        </p:txBody>
      </p:sp>
      <p:sp>
        <p:nvSpPr>
          <p:cNvPr id="13" name="Shape 11"/>
          <p:cNvSpPr/>
          <p:nvPr/>
        </p:nvSpPr>
        <p:spPr>
          <a:xfrm>
            <a:off x="6278880" y="371856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4" name="Text 12"/>
          <p:cNvSpPr/>
          <p:nvPr/>
        </p:nvSpPr>
        <p:spPr>
          <a:xfrm>
            <a:off x="6498336" y="390144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Income &amp; Collateral Less Predictive</a:t>
            </a:r>
            <a:endParaRPr lang="en-US" sz="1733" dirty="0"/>
          </a:p>
        </p:txBody>
      </p:sp>
      <p:sp>
        <p:nvSpPr>
          <p:cNvPr id="15" name="Text 13"/>
          <p:cNvSpPr/>
          <p:nvPr/>
        </p:nvSpPr>
        <p:spPr>
          <a:xfrm>
            <a:off x="6498336" y="4425696"/>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Surprisingly, income and collateral value were weaker separators. Payment behaviour mattered far more than demographics.</a:t>
            </a:r>
            <a:endParaRPr lang="en-US" sz="1600" dirty="0"/>
          </a:p>
        </p:txBody>
      </p:sp>
      <p:sp>
        <p:nvSpPr>
          <p:cNvPr id="16" name="Text 6">
            <a:extLst>
              <a:ext uri="{FF2B5EF4-FFF2-40B4-BE49-F238E27FC236}">
                <a16:creationId xmlns:a16="http://schemas.microsoft.com/office/drawing/2014/main" id="{10B40BB4-ABBE-A900-7C42-1411E68F16B7}"/>
              </a:ext>
            </a:extLst>
          </p:cNvPr>
          <p:cNvSpPr/>
          <p:nvPr/>
        </p:nvSpPr>
        <p:spPr>
          <a:xfrm>
            <a:off x="625084" y="6249857"/>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
        <p:nvSpPr>
          <p:cNvPr id="17" name="TextBox 16">
            <a:extLst>
              <a:ext uri="{FF2B5EF4-FFF2-40B4-BE49-F238E27FC236}">
                <a16:creationId xmlns:a16="http://schemas.microsoft.com/office/drawing/2014/main" id="{40167349-BB3A-12CA-C19F-7F139B87809C}"/>
              </a:ext>
            </a:extLst>
          </p:cNvPr>
          <p:cNvSpPr txBox="1"/>
          <p:nvPr/>
        </p:nvSpPr>
        <p:spPr>
          <a:xfrm>
            <a:off x="6381549" y="1987296"/>
            <a:ext cx="4871667" cy="584775"/>
          </a:xfrm>
          <a:prstGeom prst="rect">
            <a:avLst/>
          </a:prstGeom>
          <a:noFill/>
        </p:spPr>
        <p:txBody>
          <a:bodyPr wrap="square" rtlCol="0">
            <a:spAutoFit/>
          </a:bodyPr>
          <a:lstStyle/>
          <a:p>
            <a:r>
              <a:rPr lang="en-ZW" sz="1600" dirty="0">
                <a:solidFill>
                  <a:srgbClr val="4A6478"/>
                </a:solidFill>
                <a:latin typeface="Calibri" pitchFamily="34" charset="0"/>
                <a:cs typeface="Calibri" pitchFamily="34" charset="-120"/>
              </a:rPr>
              <a:t>Harare has the most borrowers at 26.82% followed by Bulawayo at 14.76% then Midlands at 13.24%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System Architecture Overview</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3274514" y="1500900"/>
            <a:ext cx="1870510" cy="3048000"/>
          </a:xfrm>
          <a:prstGeom prst="roundRect">
            <a:avLst>
              <a:gd name="adj" fmla="val 5000"/>
            </a:avLst>
          </a:prstGeom>
          <a:solidFill>
            <a:srgbClr val="1B6CA8"/>
          </a:solidFill>
          <a:ln/>
          <a:effectLst>
            <a:outerShdw blurRad="76200" dist="25400" dir="2700000" algn="bl" rotWithShape="0">
              <a:srgbClr val="000000">
                <a:alpha val="12000"/>
              </a:srgbClr>
            </a:outerShdw>
          </a:effectLst>
        </p:spPr>
        <p:txBody>
          <a:bodyPr/>
          <a:lstStyle/>
          <a:p>
            <a:endParaRPr lang="en-ZW" dirty="0"/>
          </a:p>
        </p:txBody>
      </p:sp>
      <p:sp>
        <p:nvSpPr>
          <p:cNvPr id="5" name="Text 3"/>
          <p:cNvSpPr/>
          <p:nvPr/>
        </p:nvSpPr>
        <p:spPr>
          <a:xfrm>
            <a:off x="3352640" y="1931951"/>
            <a:ext cx="1568116" cy="67056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7" name="Shape 5"/>
          <p:cNvSpPr/>
          <p:nvPr/>
        </p:nvSpPr>
        <p:spPr>
          <a:xfrm>
            <a:off x="5134761" y="2951748"/>
            <a:ext cx="304800" cy="146304"/>
          </a:xfrm>
          <a:prstGeom prst="rect">
            <a:avLst/>
          </a:prstGeom>
          <a:solidFill>
            <a:srgbClr val="8FA8BA"/>
          </a:solidFill>
          <a:ln w="12700">
            <a:solidFill>
              <a:srgbClr val="8FA8BA"/>
            </a:solidFill>
            <a:prstDash val="solid"/>
          </a:ln>
        </p:spPr>
      </p:sp>
      <p:sp>
        <p:nvSpPr>
          <p:cNvPr id="8" name="Shape 6"/>
          <p:cNvSpPr/>
          <p:nvPr/>
        </p:nvSpPr>
        <p:spPr>
          <a:xfrm>
            <a:off x="5501800" y="1472665"/>
            <a:ext cx="1857356" cy="3048000"/>
          </a:xfrm>
          <a:prstGeom prst="roundRect">
            <a:avLst>
              <a:gd name="adj" fmla="val 5000"/>
            </a:avLst>
          </a:prstGeom>
          <a:solidFill>
            <a:srgbClr val="0A7E8C"/>
          </a:solidFill>
          <a:ln/>
          <a:effectLst>
            <a:outerShdw blurRad="76200" dist="25400" dir="2700000" algn="bl" rotWithShape="0">
              <a:srgbClr val="000000">
                <a:alpha val="12000"/>
              </a:srgbClr>
            </a:outerShdw>
          </a:effectLst>
        </p:spPr>
      </p:sp>
      <p:sp>
        <p:nvSpPr>
          <p:cNvPr id="9" name="Text 7"/>
          <p:cNvSpPr/>
          <p:nvPr/>
        </p:nvSpPr>
        <p:spPr>
          <a:xfrm>
            <a:off x="5205664" y="1774256"/>
            <a:ext cx="2438400" cy="67056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0" name="Text 8"/>
          <p:cNvSpPr/>
          <p:nvPr/>
        </p:nvSpPr>
        <p:spPr>
          <a:xfrm>
            <a:off x="5623080" y="2549412"/>
            <a:ext cx="1592018" cy="109728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EWS Flags</a:t>
            </a:r>
            <a:endParaRPr lang="en-US" sz="1733" dirty="0"/>
          </a:p>
          <a:p>
            <a:pPr algn="ctr"/>
            <a:r>
              <a:rPr lang="en-US" sz="1733" b="1" dirty="0">
                <a:solidFill>
                  <a:srgbClr val="FFFFFF"/>
                </a:solidFill>
                <a:latin typeface="Cambria" pitchFamily="34" charset="0"/>
                <a:ea typeface="Cambria" pitchFamily="34" charset="-122"/>
                <a:cs typeface="Cambria" pitchFamily="34" charset="-120"/>
              </a:rPr>
              <a:t>&amp; Scoring</a:t>
            </a:r>
            <a:endParaRPr lang="en-US" sz="1733" dirty="0"/>
          </a:p>
        </p:txBody>
      </p:sp>
      <p:sp>
        <p:nvSpPr>
          <p:cNvPr id="11" name="Shape 9"/>
          <p:cNvSpPr/>
          <p:nvPr/>
        </p:nvSpPr>
        <p:spPr>
          <a:xfrm>
            <a:off x="7379690" y="2926080"/>
            <a:ext cx="304800" cy="146304"/>
          </a:xfrm>
          <a:prstGeom prst="rect">
            <a:avLst/>
          </a:prstGeom>
          <a:solidFill>
            <a:srgbClr val="8FA8BA"/>
          </a:solidFill>
          <a:ln w="12700">
            <a:solidFill>
              <a:srgbClr val="8FA8BA"/>
            </a:solidFill>
            <a:prstDash val="solid"/>
          </a:ln>
        </p:spPr>
      </p:sp>
      <p:sp>
        <p:nvSpPr>
          <p:cNvPr id="12" name="Shape 10"/>
          <p:cNvSpPr/>
          <p:nvPr/>
        </p:nvSpPr>
        <p:spPr>
          <a:xfrm>
            <a:off x="7644064" y="1463040"/>
            <a:ext cx="1953928" cy="3048000"/>
          </a:xfrm>
          <a:prstGeom prst="roundRect">
            <a:avLst>
              <a:gd name="adj" fmla="val 5000"/>
            </a:avLst>
          </a:prstGeom>
          <a:solidFill>
            <a:srgbClr val="1E8A5E"/>
          </a:solidFill>
          <a:ln/>
          <a:effectLst>
            <a:outerShdw blurRad="76200" dist="25400" dir="2700000" algn="bl" rotWithShape="0">
              <a:srgbClr val="000000">
                <a:alpha val="12000"/>
              </a:srgbClr>
            </a:outerShdw>
          </a:effectLst>
        </p:spPr>
      </p:sp>
      <p:sp>
        <p:nvSpPr>
          <p:cNvPr id="13" name="Text 11"/>
          <p:cNvSpPr/>
          <p:nvPr/>
        </p:nvSpPr>
        <p:spPr>
          <a:xfrm>
            <a:off x="7428458" y="1672550"/>
            <a:ext cx="2438400" cy="67056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4" name="Text 12"/>
          <p:cNvSpPr/>
          <p:nvPr/>
        </p:nvSpPr>
        <p:spPr>
          <a:xfrm>
            <a:off x="7628664" y="2499360"/>
            <a:ext cx="1957136" cy="109728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PD Model</a:t>
            </a:r>
            <a:endParaRPr lang="en-US" sz="1733" dirty="0"/>
          </a:p>
          <a:p>
            <a:pPr algn="ctr"/>
            <a:r>
              <a:rPr lang="en-US" sz="1733" b="1" dirty="0">
                <a:solidFill>
                  <a:srgbClr val="FFFFFF"/>
                </a:solidFill>
                <a:latin typeface="Cambria" pitchFamily="34" charset="0"/>
                <a:ea typeface="Cambria" pitchFamily="34" charset="-122"/>
                <a:cs typeface="Cambria" pitchFamily="34" charset="-120"/>
              </a:rPr>
              <a:t>(Random Forest)</a:t>
            </a:r>
            <a:endParaRPr lang="en-US" sz="1733" dirty="0"/>
          </a:p>
        </p:txBody>
      </p:sp>
      <p:sp>
        <p:nvSpPr>
          <p:cNvPr id="15" name="Shape 13"/>
          <p:cNvSpPr/>
          <p:nvPr/>
        </p:nvSpPr>
        <p:spPr>
          <a:xfrm>
            <a:off x="9636814" y="2897846"/>
            <a:ext cx="304800" cy="146304"/>
          </a:xfrm>
          <a:prstGeom prst="rect">
            <a:avLst/>
          </a:prstGeom>
          <a:solidFill>
            <a:srgbClr val="8FA8BA"/>
          </a:solidFill>
          <a:ln w="12700">
            <a:solidFill>
              <a:srgbClr val="8FA8BA"/>
            </a:solidFill>
            <a:prstDash val="solid"/>
          </a:ln>
        </p:spPr>
      </p:sp>
      <p:sp>
        <p:nvSpPr>
          <p:cNvPr id="16" name="Shape 14"/>
          <p:cNvSpPr/>
          <p:nvPr/>
        </p:nvSpPr>
        <p:spPr>
          <a:xfrm>
            <a:off x="9905680" y="1463040"/>
            <a:ext cx="1953928" cy="3048000"/>
          </a:xfrm>
          <a:prstGeom prst="roundRect">
            <a:avLst>
              <a:gd name="adj" fmla="val 5000"/>
            </a:avLst>
          </a:prstGeom>
          <a:solidFill>
            <a:srgbClr val="7B3FA0"/>
          </a:solidFill>
          <a:ln/>
          <a:effectLst>
            <a:outerShdw blurRad="76200" dist="25400" dir="2700000" algn="bl" rotWithShape="0">
              <a:srgbClr val="000000">
                <a:alpha val="12000"/>
              </a:srgbClr>
            </a:outerShdw>
          </a:effectLst>
        </p:spPr>
      </p:sp>
      <p:sp>
        <p:nvSpPr>
          <p:cNvPr id="17" name="Text 15"/>
          <p:cNvSpPr/>
          <p:nvPr/>
        </p:nvSpPr>
        <p:spPr>
          <a:xfrm>
            <a:off x="9585800" y="1664208"/>
            <a:ext cx="2438400" cy="67056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
        <p:nvSpPr>
          <p:cNvPr id="18" name="Text 16"/>
          <p:cNvSpPr/>
          <p:nvPr/>
        </p:nvSpPr>
        <p:spPr>
          <a:xfrm>
            <a:off x="9828036" y="2438400"/>
            <a:ext cx="1953928" cy="109728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Model</a:t>
            </a:r>
            <a:endParaRPr lang="en-US" sz="1733" dirty="0"/>
          </a:p>
          <a:p>
            <a:pPr algn="ctr"/>
            <a:r>
              <a:rPr lang="en-US" sz="1733" b="1" dirty="0">
                <a:solidFill>
                  <a:srgbClr val="FFFFFF"/>
                </a:solidFill>
                <a:latin typeface="Cambria" pitchFamily="34" charset="0"/>
                <a:ea typeface="Cambria" pitchFamily="34" charset="-122"/>
                <a:cs typeface="Cambria" pitchFamily="34" charset="-120"/>
              </a:rPr>
              <a:t>Demonstration</a:t>
            </a:r>
            <a:endParaRPr lang="en-US" sz="1733" dirty="0"/>
          </a:p>
        </p:txBody>
      </p:sp>
      <p:sp>
        <p:nvSpPr>
          <p:cNvPr id="19" name="Text 17"/>
          <p:cNvSpPr/>
          <p:nvPr/>
        </p:nvSpPr>
        <p:spPr>
          <a:xfrm>
            <a:off x="487680" y="4693920"/>
            <a:ext cx="2438400" cy="975360"/>
          </a:xfrm>
          <a:prstGeom prst="rect">
            <a:avLst/>
          </a:prstGeom>
          <a:noFill/>
          <a:ln/>
        </p:spPr>
        <p:txBody>
          <a:bodyPr wrap="square" lIns="0" tIns="0" rIns="0" bIns="0" rtlCol="0" anchor="ctr"/>
          <a:lstStyle/>
          <a:p>
            <a:pPr algn="ctr"/>
            <a:r>
              <a:rPr lang="en-US" sz="1333" dirty="0">
                <a:solidFill>
                  <a:schemeClr val="bg1"/>
                </a:solidFill>
                <a:latin typeface="Calibri" pitchFamily="34" charset="0"/>
                <a:ea typeface="Calibri" pitchFamily="34" charset="-122"/>
                <a:cs typeface="Calibri" pitchFamily="34" charset="-120"/>
              </a:rPr>
              <a:t>LTV, DTI, DSCR</a:t>
            </a:r>
            <a:endParaRPr lang="en-US" sz="1333" dirty="0">
              <a:solidFill>
                <a:schemeClr val="bg1"/>
              </a:solidFill>
            </a:endParaRPr>
          </a:p>
          <a:p>
            <a:pPr algn="ctr"/>
            <a:r>
              <a:rPr lang="en-US" sz="1333" dirty="0">
                <a:solidFill>
                  <a:schemeClr val="bg1"/>
                </a:solidFill>
                <a:latin typeface="Calibri" pitchFamily="34" charset="0"/>
                <a:ea typeface="Calibri" pitchFamily="34" charset="-122"/>
                <a:cs typeface="Calibri" pitchFamily="34" charset="-120"/>
              </a:rPr>
              <a:t>+ Risk Flags</a:t>
            </a:r>
            <a:endParaRPr lang="en-US" sz="1333" dirty="0">
              <a:solidFill>
                <a:schemeClr val="bg1"/>
              </a:solidFill>
            </a:endParaRPr>
          </a:p>
        </p:txBody>
      </p:sp>
      <p:sp>
        <p:nvSpPr>
          <p:cNvPr id="20" name="Text 18"/>
          <p:cNvSpPr/>
          <p:nvPr/>
        </p:nvSpPr>
        <p:spPr>
          <a:xfrm>
            <a:off x="3291840" y="4693920"/>
            <a:ext cx="2438400" cy="975360"/>
          </a:xfrm>
          <a:prstGeom prst="rect">
            <a:avLst/>
          </a:prstGeom>
          <a:noFill/>
          <a:ln/>
        </p:spPr>
        <p:txBody>
          <a:bodyPr wrap="square" lIns="0" tIns="0" rIns="0" bIns="0" rtlCol="0" anchor="ctr"/>
          <a:lstStyle/>
          <a:p>
            <a:pPr algn="ctr"/>
            <a:r>
              <a:rPr lang="en-US" sz="1333" dirty="0">
                <a:solidFill>
                  <a:schemeClr val="bg1"/>
                </a:solidFill>
                <a:latin typeface="Calibri" pitchFamily="34" charset="0"/>
                <a:ea typeface="Calibri" pitchFamily="34" charset="-122"/>
                <a:cs typeface="Calibri" pitchFamily="34" charset="-120"/>
              </a:rPr>
              <a:t>Green / Amber /</a:t>
            </a:r>
            <a:endParaRPr lang="en-US" sz="1333" dirty="0">
              <a:solidFill>
                <a:schemeClr val="bg1"/>
              </a:solidFill>
            </a:endParaRPr>
          </a:p>
          <a:p>
            <a:pPr algn="ctr"/>
            <a:r>
              <a:rPr lang="en-US" sz="1333" dirty="0">
                <a:solidFill>
                  <a:schemeClr val="bg1"/>
                </a:solidFill>
                <a:latin typeface="Calibri" pitchFamily="34" charset="0"/>
                <a:ea typeface="Calibri" pitchFamily="34" charset="-122"/>
                <a:cs typeface="Calibri" pitchFamily="34" charset="-120"/>
              </a:rPr>
              <a:t>Red Bands</a:t>
            </a:r>
            <a:endParaRPr lang="en-US" sz="1333" dirty="0">
              <a:solidFill>
                <a:schemeClr val="bg1"/>
              </a:solidFill>
            </a:endParaRPr>
          </a:p>
        </p:txBody>
      </p:sp>
      <p:sp>
        <p:nvSpPr>
          <p:cNvPr id="24" name="Shape 2">
            <a:extLst>
              <a:ext uri="{FF2B5EF4-FFF2-40B4-BE49-F238E27FC236}">
                <a16:creationId xmlns:a16="http://schemas.microsoft.com/office/drawing/2014/main" id="{03AF8D9F-F4A1-9FFA-A076-3A7F4635A916}"/>
              </a:ext>
            </a:extLst>
          </p:cNvPr>
          <p:cNvSpPr/>
          <p:nvPr/>
        </p:nvSpPr>
        <p:spPr>
          <a:xfrm>
            <a:off x="1012021" y="1524001"/>
            <a:ext cx="1870510" cy="3048000"/>
          </a:xfrm>
          <a:prstGeom prst="roundRect">
            <a:avLst>
              <a:gd name="adj" fmla="val 5000"/>
            </a:avLst>
          </a:prstGeom>
          <a:solidFill>
            <a:srgbClr val="1B6CA8"/>
          </a:solidFill>
          <a:ln/>
          <a:effectLst>
            <a:outerShdw blurRad="76200" dist="25400" dir="2700000" algn="bl" rotWithShape="0">
              <a:srgbClr val="000000">
                <a:alpha val="12000"/>
              </a:srgbClr>
            </a:outerShdw>
          </a:effectLst>
        </p:spPr>
      </p:sp>
      <p:sp>
        <p:nvSpPr>
          <p:cNvPr id="21" name="Text 19"/>
          <p:cNvSpPr/>
          <p:nvPr/>
        </p:nvSpPr>
        <p:spPr>
          <a:xfrm>
            <a:off x="6096000" y="4693920"/>
            <a:ext cx="2438400" cy="975360"/>
          </a:xfrm>
          <a:prstGeom prst="rect">
            <a:avLst/>
          </a:prstGeom>
          <a:noFill/>
          <a:ln/>
        </p:spPr>
        <p:txBody>
          <a:bodyPr wrap="square" lIns="0" tIns="0" rIns="0" bIns="0" rtlCol="0" anchor="ctr"/>
          <a:lstStyle/>
          <a:p>
            <a:pPr algn="ctr"/>
            <a:r>
              <a:rPr lang="en-US" sz="1333" dirty="0">
                <a:solidFill>
                  <a:schemeClr val="bg1"/>
                </a:solidFill>
                <a:latin typeface="Calibri" pitchFamily="34" charset="0"/>
                <a:ea typeface="Calibri" pitchFamily="34" charset="-122"/>
                <a:cs typeface="Calibri" pitchFamily="34" charset="-120"/>
              </a:rPr>
              <a:t>Borrower PD</a:t>
            </a:r>
            <a:endParaRPr lang="en-US" sz="1333" dirty="0">
              <a:solidFill>
                <a:schemeClr val="bg1"/>
              </a:solidFill>
            </a:endParaRPr>
          </a:p>
          <a:p>
            <a:pPr algn="ctr"/>
            <a:r>
              <a:rPr lang="en-US" sz="1333" dirty="0">
                <a:solidFill>
                  <a:schemeClr val="bg1"/>
                </a:solidFill>
                <a:latin typeface="Calibri" pitchFamily="34" charset="0"/>
                <a:ea typeface="Calibri" pitchFamily="34" charset="-122"/>
                <a:cs typeface="Calibri" pitchFamily="34" charset="-120"/>
              </a:rPr>
              <a:t>Score (0–100%)</a:t>
            </a:r>
            <a:endParaRPr lang="en-US" sz="1333" dirty="0">
              <a:solidFill>
                <a:schemeClr val="bg1"/>
              </a:solidFill>
            </a:endParaRPr>
          </a:p>
        </p:txBody>
      </p:sp>
      <p:sp>
        <p:nvSpPr>
          <p:cNvPr id="22" name="Text 20"/>
          <p:cNvSpPr/>
          <p:nvPr/>
        </p:nvSpPr>
        <p:spPr>
          <a:xfrm>
            <a:off x="8900160" y="4693920"/>
            <a:ext cx="2438400" cy="975360"/>
          </a:xfrm>
          <a:prstGeom prst="rect">
            <a:avLst/>
          </a:prstGeom>
          <a:noFill/>
          <a:ln/>
        </p:spPr>
        <p:txBody>
          <a:bodyPr wrap="square" lIns="0" tIns="0" rIns="0" bIns="0" rtlCol="0" anchor="ctr"/>
          <a:lstStyle/>
          <a:p>
            <a:pPr algn="ctr"/>
            <a:r>
              <a:rPr lang="en-US" sz="1333" dirty="0">
                <a:solidFill>
                  <a:schemeClr val="bg1"/>
                </a:solidFill>
                <a:latin typeface="Calibri" pitchFamily="34" charset="0"/>
                <a:ea typeface="Calibri" pitchFamily="34" charset="-122"/>
                <a:cs typeface="Calibri" pitchFamily="34" charset="-120"/>
              </a:rPr>
              <a:t>Model</a:t>
            </a:r>
            <a:endParaRPr lang="en-US" sz="1333" dirty="0">
              <a:solidFill>
                <a:schemeClr val="bg1"/>
              </a:solidFill>
            </a:endParaRPr>
          </a:p>
          <a:p>
            <a:pPr algn="ctr"/>
            <a:r>
              <a:rPr lang="en-US" sz="1333" dirty="0">
                <a:solidFill>
                  <a:schemeClr val="bg1"/>
                </a:solidFill>
                <a:latin typeface="Calibri" pitchFamily="34" charset="0"/>
                <a:cs typeface="Calibri" pitchFamily="34" charset="-120"/>
              </a:rPr>
              <a:t>User Function</a:t>
            </a:r>
            <a:endParaRPr lang="en-US" sz="1333" dirty="0">
              <a:solidFill>
                <a:schemeClr val="bg1"/>
              </a:solidFill>
            </a:endParaRPr>
          </a:p>
        </p:txBody>
      </p:sp>
      <p:sp>
        <p:nvSpPr>
          <p:cNvPr id="23" name="Text 6">
            <a:extLst>
              <a:ext uri="{FF2B5EF4-FFF2-40B4-BE49-F238E27FC236}">
                <a16:creationId xmlns:a16="http://schemas.microsoft.com/office/drawing/2014/main" id="{F0D1A340-6D75-CA43-5243-357C80A9DD68}"/>
              </a:ext>
            </a:extLst>
          </p:cNvPr>
          <p:cNvSpPr/>
          <p:nvPr/>
        </p:nvSpPr>
        <p:spPr>
          <a:xfrm>
            <a:off x="731520" y="566928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
        <p:nvSpPr>
          <p:cNvPr id="6" name="Text 4"/>
          <p:cNvSpPr/>
          <p:nvPr/>
        </p:nvSpPr>
        <p:spPr>
          <a:xfrm>
            <a:off x="1142527" y="2693470"/>
            <a:ext cx="1591699" cy="109728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Data Collection &amp;</a:t>
            </a:r>
            <a:endParaRPr lang="en-US" sz="1733" dirty="0"/>
          </a:p>
          <a:p>
            <a:pPr algn="ctr"/>
            <a:r>
              <a:rPr lang="en-US" sz="1733" b="1" dirty="0">
                <a:solidFill>
                  <a:srgbClr val="FFFFFF"/>
                </a:solidFill>
                <a:latin typeface="Cambria" pitchFamily="34" charset="0"/>
                <a:ea typeface="Cambria" pitchFamily="34" charset="-122"/>
                <a:cs typeface="Cambria" pitchFamily="34" charset="-120"/>
              </a:rPr>
              <a:t>Cleaning</a:t>
            </a:r>
            <a:endParaRPr lang="en-US" sz="1733" dirty="0"/>
          </a:p>
        </p:txBody>
      </p:sp>
      <p:sp>
        <p:nvSpPr>
          <p:cNvPr id="25" name="Text 4">
            <a:extLst>
              <a:ext uri="{FF2B5EF4-FFF2-40B4-BE49-F238E27FC236}">
                <a16:creationId xmlns:a16="http://schemas.microsoft.com/office/drawing/2014/main" id="{DCC053DA-4B33-C196-D0B0-F1A9CFA00F9A}"/>
              </a:ext>
            </a:extLst>
          </p:cNvPr>
          <p:cNvSpPr/>
          <p:nvPr/>
        </p:nvSpPr>
        <p:spPr>
          <a:xfrm>
            <a:off x="3340448" y="2571228"/>
            <a:ext cx="1503629" cy="109728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Data &amp;</a:t>
            </a:r>
            <a:endParaRPr lang="en-US" sz="1733" dirty="0"/>
          </a:p>
          <a:p>
            <a:pPr algn="ctr"/>
            <a:r>
              <a:rPr lang="en-US" sz="1733" b="1" dirty="0">
                <a:solidFill>
                  <a:srgbClr val="FFFFFF"/>
                </a:solidFill>
                <a:latin typeface="Cambria" pitchFamily="34" charset="0"/>
                <a:ea typeface="Cambria" pitchFamily="34" charset="-122"/>
                <a:cs typeface="Cambria" pitchFamily="34" charset="-120"/>
              </a:rPr>
              <a:t>Feature Eng.</a:t>
            </a:r>
            <a:endParaRPr lang="en-US" sz="1733" dirty="0"/>
          </a:p>
        </p:txBody>
      </p:sp>
      <p:sp>
        <p:nvSpPr>
          <p:cNvPr id="26" name="Shape 5">
            <a:extLst>
              <a:ext uri="{FF2B5EF4-FFF2-40B4-BE49-F238E27FC236}">
                <a16:creationId xmlns:a16="http://schemas.microsoft.com/office/drawing/2014/main" id="{F489696D-6DE3-FF32-F740-76AFD6DCCEB9}"/>
              </a:ext>
            </a:extLst>
          </p:cNvPr>
          <p:cNvSpPr/>
          <p:nvPr/>
        </p:nvSpPr>
        <p:spPr>
          <a:xfrm>
            <a:off x="2883732" y="2970998"/>
            <a:ext cx="304800" cy="146304"/>
          </a:xfrm>
          <a:prstGeom prst="rect">
            <a:avLst/>
          </a:prstGeom>
          <a:solidFill>
            <a:srgbClr val="8FA8BA"/>
          </a:solidFill>
          <a:ln w="12700">
            <a:solidFill>
              <a:srgbClr val="8FA8BA"/>
            </a:solidFill>
            <a:prstDash val="solid"/>
          </a:ln>
        </p:spPr>
      </p:sp>
      <p:sp>
        <p:nvSpPr>
          <p:cNvPr id="27" name="Text 3">
            <a:extLst>
              <a:ext uri="{FF2B5EF4-FFF2-40B4-BE49-F238E27FC236}">
                <a16:creationId xmlns:a16="http://schemas.microsoft.com/office/drawing/2014/main" id="{732D8C57-5CBE-14A7-B35B-BAA613478E67}"/>
              </a:ext>
            </a:extLst>
          </p:cNvPr>
          <p:cNvSpPr/>
          <p:nvPr/>
        </p:nvSpPr>
        <p:spPr>
          <a:xfrm>
            <a:off x="1117944" y="1931951"/>
            <a:ext cx="1568116" cy="670560"/>
          </a:xfrm>
          <a:prstGeom prst="rect">
            <a:avLst/>
          </a:prstGeom>
          <a:noFill/>
          <a:ln/>
        </p:spPr>
        <p:txBody>
          <a:bodyPr wrap="square" lIns="0" tIns="0" rIns="0" bIns="0" rtlCol="0" anchor="ctr"/>
          <a:lstStyle/>
          <a:p>
            <a:pPr algn="ctr"/>
            <a:r>
              <a:rPr lang="en-US" sz="3467" dirty="0">
                <a:solidFill>
                  <a:srgbClr val="000000"/>
                </a:solidFill>
              </a:rPr>
              <a:t>🔧</a:t>
            </a:r>
            <a:endParaRPr lang="en-US" sz="346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Early Warning System: 6 Risk Flags</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512064" y="12192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5" name="Text 3"/>
          <p:cNvSpPr/>
          <p:nvPr/>
        </p:nvSpPr>
        <p:spPr>
          <a:xfrm>
            <a:off x="658368" y="13655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6" name="Text 4"/>
          <p:cNvSpPr/>
          <p:nvPr/>
        </p:nvSpPr>
        <p:spPr>
          <a:xfrm>
            <a:off x="1182624" y="13411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DPD &gt; 30 days</a:t>
            </a:r>
            <a:endParaRPr lang="en-US" sz="1600" dirty="0"/>
          </a:p>
        </p:txBody>
      </p:sp>
      <p:sp>
        <p:nvSpPr>
          <p:cNvPr id="7" name="Text 5"/>
          <p:cNvSpPr/>
          <p:nvPr/>
        </p:nvSpPr>
        <p:spPr>
          <a:xfrm>
            <a:off x="658368" y="19507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Borrower is already behind</a:t>
            </a:r>
            <a:endParaRPr lang="en-US" sz="1467" dirty="0"/>
          </a:p>
        </p:txBody>
      </p:sp>
      <p:sp>
        <p:nvSpPr>
          <p:cNvPr id="8" name="Shape 6"/>
          <p:cNvSpPr/>
          <p:nvPr/>
        </p:nvSpPr>
        <p:spPr>
          <a:xfrm>
            <a:off x="4267200" y="12192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9" name="Text 7"/>
          <p:cNvSpPr/>
          <p:nvPr/>
        </p:nvSpPr>
        <p:spPr>
          <a:xfrm>
            <a:off x="4413504" y="13655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10" name="Text 8"/>
          <p:cNvSpPr/>
          <p:nvPr/>
        </p:nvSpPr>
        <p:spPr>
          <a:xfrm>
            <a:off x="4937760" y="13411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Missed Payments ≥ 2</a:t>
            </a:r>
            <a:endParaRPr lang="en-US" sz="1600" dirty="0"/>
          </a:p>
        </p:txBody>
      </p:sp>
      <p:sp>
        <p:nvSpPr>
          <p:cNvPr id="11" name="Text 9"/>
          <p:cNvSpPr/>
          <p:nvPr/>
        </p:nvSpPr>
        <p:spPr>
          <a:xfrm>
            <a:off x="4413504" y="19507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Repeated failure to pay</a:t>
            </a:r>
            <a:endParaRPr lang="en-US" sz="1467" dirty="0"/>
          </a:p>
        </p:txBody>
      </p:sp>
      <p:sp>
        <p:nvSpPr>
          <p:cNvPr id="12" name="Shape 10"/>
          <p:cNvSpPr/>
          <p:nvPr/>
        </p:nvSpPr>
        <p:spPr>
          <a:xfrm>
            <a:off x="8022336" y="12192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3" name="Text 11"/>
          <p:cNvSpPr/>
          <p:nvPr/>
        </p:nvSpPr>
        <p:spPr>
          <a:xfrm>
            <a:off x="8168640" y="13655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14" name="Text 12"/>
          <p:cNvSpPr/>
          <p:nvPr/>
        </p:nvSpPr>
        <p:spPr>
          <a:xfrm>
            <a:off x="8692896" y="13411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High LTV (&gt; 80%)</a:t>
            </a:r>
            <a:endParaRPr lang="en-US" sz="1600" dirty="0"/>
          </a:p>
        </p:txBody>
      </p:sp>
      <p:sp>
        <p:nvSpPr>
          <p:cNvPr id="15" name="Text 13"/>
          <p:cNvSpPr/>
          <p:nvPr/>
        </p:nvSpPr>
        <p:spPr>
          <a:xfrm>
            <a:off x="8168640" y="19507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Collateral barely covers loan</a:t>
            </a:r>
            <a:endParaRPr lang="en-US" sz="1467" dirty="0"/>
          </a:p>
        </p:txBody>
      </p:sp>
      <p:sp>
        <p:nvSpPr>
          <p:cNvPr id="16" name="Shape 14"/>
          <p:cNvSpPr/>
          <p:nvPr/>
        </p:nvSpPr>
        <p:spPr>
          <a:xfrm>
            <a:off x="512064" y="33528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7" name="Text 15"/>
          <p:cNvSpPr/>
          <p:nvPr/>
        </p:nvSpPr>
        <p:spPr>
          <a:xfrm>
            <a:off x="658368" y="34991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18" name="Text 16"/>
          <p:cNvSpPr/>
          <p:nvPr/>
        </p:nvSpPr>
        <p:spPr>
          <a:xfrm>
            <a:off x="1182624" y="34747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High DTI (&gt; 40%)</a:t>
            </a:r>
            <a:endParaRPr lang="en-US" sz="1600" dirty="0"/>
          </a:p>
        </p:txBody>
      </p:sp>
      <p:sp>
        <p:nvSpPr>
          <p:cNvPr id="19" name="Text 17"/>
          <p:cNvSpPr/>
          <p:nvPr/>
        </p:nvSpPr>
        <p:spPr>
          <a:xfrm>
            <a:off x="658368" y="40843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Debt burden too heavy</a:t>
            </a:r>
            <a:endParaRPr lang="en-US" sz="1467" dirty="0"/>
          </a:p>
        </p:txBody>
      </p:sp>
      <p:sp>
        <p:nvSpPr>
          <p:cNvPr id="20" name="Shape 18"/>
          <p:cNvSpPr/>
          <p:nvPr/>
        </p:nvSpPr>
        <p:spPr>
          <a:xfrm>
            <a:off x="4267200" y="33528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21" name="Text 19"/>
          <p:cNvSpPr/>
          <p:nvPr/>
        </p:nvSpPr>
        <p:spPr>
          <a:xfrm>
            <a:off x="4413504" y="34991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22" name="Text 20"/>
          <p:cNvSpPr/>
          <p:nvPr/>
        </p:nvSpPr>
        <p:spPr>
          <a:xfrm>
            <a:off x="4937760" y="34747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Low DSCR (&lt; 1)</a:t>
            </a:r>
            <a:endParaRPr lang="en-US" sz="1600" dirty="0"/>
          </a:p>
        </p:txBody>
      </p:sp>
      <p:sp>
        <p:nvSpPr>
          <p:cNvPr id="23" name="Text 21"/>
          <p:cNvSpPr/>
          <p:nvPr/>
        </p:nvSpPr>
        <p:spPr>
          <a:xfrm>
            <a:off x="4413504" y="40843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Income can't cover repayments</a:t>
            </a:r>
            <a:endParaRPr lang="en-US" sz="1467" dirty="0"/>
          </a:p>
        </p:txBody>
      </p:sp>
      <p:sp>
        <p:nvSpPr>
          <p:cNvPr id="24" name="Shape 22"/>
          <p:cNvSpPr/>
          <p:nvPr/>
        </p:nvSpPr>
        <p:spPr>
          <a:xfrm>
            <a:off x="8022336" y="3352800"/>
            <a:ext cx="3474720" cy="1828800"/>
          </a:xfrm>
          <a:prstGeom prst="roundRect">
            <a:avLst>
              <a:gd name="adj" fmla="val 5333"/>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25" name="Text 23"/>
          <p:cNvSpPr/>
          <p:nvPr/>
        </p:nvSpPr>
        <p:spPr>
          <a:xfrm>
            <a:off x="8168640" y="3499104"/>
            <a:ext cx="487680" cy="487680"/>
          </a:xfrm>
          <a:prstGeom prst="rect">
            <a:avLst/>
          </a:prstGeom>
          <a:noFill/>
          <a:ln/>
        </p:spPr>
        <p:txBody>
          <a:bodyPr wrap="square" lIns="0" tIns="0" rIns="0" bIns="0" rtlCol="0" anchor="ctr"/>
          <a:lstStyle/>
          <a:p>
            <a:r>
              <a:rPr lang="en-US" sz="2133" dirty="0">
                <a:solidFill>
                  <a:srgbClr val="000000"/>
                </a:solidFill>
              </a:rPr>
              <a:t>🚩</a:t>
            </a:r>
            <a:endParaRPr lang="en-US" sz="2133" dirty="0"/>
          </a:p>
        </p:txBody>
      </p:sp>
      <p:sp>
        <p:nvSpPr>
          <p:cNvPr id="26" name="Text 24"/>
          <p:cNvSpPr/>
          <p:nvPr/>
        </p:nvSpPr>
        <p:spPr>
          <a:xfrm>
            <a:off x="8692896" y="3474720"/>
            <a:ext cx="2682240" cy="463296"/>
          </a:xfrm>
          <a:prstGeom prst="rect">
            <a:avLst/>
          </a:prstGeom>
          <a:noFill/>
          <a:ln/>
        </p:spPr>
        <p:txBody>
          <a:bodyPr wrap="square" lIns="0" tIns="0" rIns="0" bIns="0" rtlCol="0" anchor="ctr"/>
          <a:lstStyle/>
          <a:p>
            <a:r>
              <a:rPr lang="en-US" sz="1600" b="1" dirty="0">
                <a:solidFill>
                  <a:srgbClr val="0D1F3C"/>
                </a:solidFill>
                <a:latin typeface="Cambria" pitchFamily="34" charset="0"/>
                <a:ea typeface="Cambria" pitchFamily="34" charset="-122"/>
                <a:cs typeface="Cambria" pitchFamily="34" charset="-120"/>
              </a:rPr>
              <a:t>High Revolving Util.</a:t>
            </a:r>
            <a:endParaRPr lang="en-US" sz="1600" dirty="0"/>
          </a:p>
        </p:txBody>
      </p:sp>
      <p:sp>
        <p:nvSpPr>
          <p:cNvPr id="27" name="Text 25"/>
          <p:cNvSpPr/>
          <p:nvPr/>
        </p:nvSpPr>
        <p:spPr>
          <a:xfrm>
            <a:off x="8168640" y="4084320"/>
            <a:ext cx="3169920" cy="853440"/>
          </a:xfrm>
          <a:prstGeom prst="rect">
            <a:avLst/>
          </a:prstGeom>
          <a:noFill/>
          <a:ln/>
        </p:spPr>
        <p:txBody>
          <a:bodyPr wrap="square" lIns="0" tIns="0" rIns="0" bIns="0" rtlCol="0" anchor="ctr"/>
          <a:lstStyle/>
          <a:p>
            <a:r>
              <a:rPr lang="en-US" sz="1467" dirty="0">
                <a:solidFill>
                  <a:srgbClr val="4A6478"/>
                </a:solidFill>
                <a:latin typeface="Calibri" pitchFamily="34" charset="0"/>
                <a:ea typeface="Calibri" pitchFamily="34" charset="-122"/>
                <a:cs typeface="Calibri" pitchFamily="34" charset="-120"/>
              </a:rPr>
              <a:t>Already stretched on credit</a:t>
            </a:r>
            <a:endParaRPr lang="en-US" sz="1467" dirty="0"/>
          </a:p>
        </p:txBody>
      </p:sp>
      <p:sp>
        <p:nvSpPr>
          <p:cNvPr id="28" name="Text 6">
            <a:extLst>
              <a:ext uri="{FF2B5EF4-FFF2-40B4-BE49-F238E27FC236}">
                <a16:creationId xmlns:a16="http://schemas.microsoft.com/office/drawing/2014/main" id="{521F37CD-5E49-6C93-78D8-F4AD450AB61B}"/>
              </a:ext>
            </a:extLst>
          </p:cNvPr>
          <p:cNvSpPr/>
          <p:nvPr/>
        </p:nvSpPr>
        <p:spPr>
          <a:xfrm>
            <a:off x="731520" y="566928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609600" y="341376"/>
            <a:ext cx="10972800" cy="731520"/>
          </a:xfrm>
          <a:prstGeom prst="rect">
            <a:avLst/>
          </a:prstGeom>
          <a:noFill/>
          <a:ln/>
        </p:spPr>
        <p:txBody>
          <a:bodyPr wrap="square" lIns="0" tIns="0" rIns="0" bIns="0" rtlCol="0" anchor="ctr"/>
          <a:lstStyle/>
          <a:p>
            <a:r>
              <a:rPr lang="en-US" sz="4267" b="1" dirty="0">
                <a:solidFill>
                  <a:srgbClr val="FFFFFF"/>
                </a:solidFill>
                <a:latin typeface="Cambria" pitchFamily="34" charset="0"/>
                <a:ea typeface="Cambria" pitchFamily="34" charset="-122"/>
                <a:cs typeface="Cambria" pitchFamily="34" charset="-120"/>
              </a:rPr>
              <a:t>Composite Risk Score → Traffic Light</a:t>
            </a:r>
            <a:endParaRPr lang="en-US" sz="4267" dirty="0"/>
          </a:p>
        </p:txBody>
      </p:sp>
      <p:sp>
        <p:nvSpPr>
          <p:cNvPr id="4" name="Text 2"/>
          <p:cNvSpPr/>
          <p:nvPr/>
        </p:nvSpPr>
        <p:spPr>
          <a:xfrm>
            <a:off x="731520" y="1280160"/>
            <a:ext cx="10972800" cy="548640"/>
          </a:xfrm>
          <a:prstGeom prst="rect">
            <a:avLst/>
          </a:prstGeom>
          <a:noFill/>
          <a:ln/>
        </p:spPr>
        <p:txBody>
          <a:bodyPr wrap="square" lIns="0" tIns="0" rIns="0" bIns="0" rtlCol="0" anchor="ctr"/>
          <a:lstStyle/>
          <a:p>
            <a:pPr algn="ctr"/>
            <a:r>
              <a:rPr lang="en-US" sz="2133" dirty="0">
                <a:latin typeface="Calibri" pitchFamily="34" charset="0"/>
                <a:ea typeface="Calibri" pitchFamily="34" charset="-122"/>
                <a:cs typeface="Calibri" pitchFamily="34" charset="-120"/>
              </a:rPr>
              <a:t>Risk Score  =  Sum of all 6 flags  (0 to 6)</a:t>
            </a:r>
            <a:endParaRPr lang="en-US" sz="2133" dirty="0"/>
          </a:p>
        </p:txBody>
      </p:sp>
      <p:sp>
        <p:nvSpPr>
          <p:cNvPr id="5" name="Shape 3"/>
          <p:cNvSpPr/>
          <p:nvPr/>
        </p:nvSpPr>
        <p:spPr>
          <a:xfrm>
            <a:off x="1927444" y="2088121"/>
            <a:ext cx="2343753" cy="3535680"/>
          </a:xfrm>
          <a:prstGeom prst="roundRect">
            <a:avLst>
              <a:gd name="adj" fmla="val 4528"/>
            </a:avLst>
          </a:prstGeom>
          <a:solidFill>
            <a:srgbClr val="1E8A5E">
              <a:alpha val="85000"/>
            </a:srgbClr>
          </a:solidFill>
          <a:ln/>
          <a:effectLst>
            <a:outerShdw blurRad="76200" dist="25400" dir="2700000" algn="bl" rotWithShape="0">
              <a:srgbClr val="000000">
                <a:alpha val="12000"/>
              </a:srgbClr>
            </a:outerShdw>
          </a:effectLst>
        </p:spPr>
      </p:sp>
      <p:sp>
        <p:nvSpPr>
          <p:cNvPr id="6" name="Text 4"/>
          <p:cNvSpPr/>
          <p:nvPr/>
        </p:nvSpPr>
        <p:spPr>
          <a:xfrm>
            <a:off x="2492941" y="2209600"/>
            <a:ext cx="968943" cy="731520"/>
          </a:xfrm>
          <a:prstGeom prst="rect">
            <a:avLst/>
          </a:prstGeom>
          <a:noFill/>
          <a:ln/>
        </p:spPr>
        <p:txBody>
          <a:bodyPr wrap="square" lIns="0" tIns="0" rIns="0" bIns="0" rtlCol="0" anchor="ctr"/>
          <a:lstStyle/>
          <a:p>
            <a:pPr algn="ctr"/>
            <a:r>
              <a:rPr lang="en-US" sz="4267" dirty="0">
                <a:solidFill>
                  <a:srgbClr val="000000"/>
                </a:solidFill>
              </a:rPr>
              <a:t>🟢</a:t>
            </a:r>
            <a:endParaRPr lang="en-US" sz="4267" dirty="0"/>
          </a:p>
        </p:txBody>
      </p:sp>
      <p:sp>
        <p:nvSpPr>
          <p:cNvPr id="7" name="Text 5"/>
          <p:cNvSpPr/>
          <p:nvPr/>
        </p:nvSpPr>
        <p:spPr>
          <a:xfrm>
            <a:off x="2492941" y="3177660"/>
            <a:ext cx="1132573" cy="548640"/>
          </a:xfrm>
          <a:prstGeom prst="rect">
            <a:avLst/>
          </a:prstGeom>
          <a:noFill/>
          <a:ln/>
        </p:spPr>
        <p:txBody>
          <a:bodyPr wrap="square" lIns="0" tIns="0" rIns="0" bIns="0" rtlCol="0" anchor="ctr"/>
          <a:lstStyle/>
          <a:p>
            <a:pPr algn="ctr"/>
            <a:r>
              <a:rPr lang="en-US" sz="2667" b="1" dirty="0">
                <a:solidFill>
                  <a:srgbClr val="FFFFFF"/>
                </a:solidFill>
                <a:latin typeface="Cambria" pitchFamily="34" charset="0"/>
                <a:ea typeface="Cambria" pitchFamily="34" charset="-122"/>
                <a:cs typeface="Cambria" pitchFamily="34" charset="-120"/>
              </a:rPr>
              <a:t>GREEN</a:t>
            </a:r>
            <a:endParaRPr lang="en-US" sz="2667" dirty="0"/>
          </a:p>
        </p:txBody>
      </p:sp>
      <p:sp>
        <p:nvSpPr>
          <p:cNvPr id="8" name="Text 6"/>
          <p:cNvSpPr/>
          <p:nvPr/>
        </p:nvSpPr>
        <p:spPr>
          <a:xfrm>
            <a:off x="2486520" y="3718560"/>
            <a:ext cx="1132574" cy="426720"/>
          </a:xfrm>
          <a:prstGeom prst="rect">
            <a:avLst/>
          </a:prstGeom>
          <a:noFill/>
          <a:ln/>
        </p:spPr>
        <p:txBody>
          <a:bodyPr wrap="square" lIns="0" tIns="0" rIns="0" bIns="0" rtlCol="0" anchor="ctr"/>
          <a:lstStyle/>
          <a:p>
            <a:pPr algn="ctr"/>
            <a:r>
              <a:rPr lang="en-US" sz="1600" dirty="0">
                <a:solidFill>
                  <a:srgbClr val="FFFFFF"/>
                </a:solidFill>
                <a:latin typeface="Calibri" pitchFamily="34" charset="0"/>
                <a:ea typeface="Calibri" pitchFamily="34" charset="-122"/>
                <a:cs typeface="Calibri" pitchFamily="34" charset="-120"/>
              </a:rPr>
              <a:t>Score: 0 – 1</a:t>
            </a:r>
            <a:endParaRPr lang="en-US" sz="1600" dirty="0"/>
          </a:p>
        </p:txBody>
      </p:sp>
      <p:sp>
        <p:nvSpPr>
          <p:cNvPr id="9" name="Text 7"/>
          <p:cNvSpPr/>
          <p:nvPr/>
        </p:nvSpPr>
        <p:spPr>
          <a:xfrm>
            <a:off x="2494543" y="4137540"/>
            <a:ext cx="1507959" cy="1097280"/>
          </a:xfrm>
          <a:prstGeom prst="rect">
            <a:avLst/>
          </a:prstGeom>
          <a:noFill/>
          <a:ln/>
        </p:spPr>
        <p:txBody>
          <a:bodyPr wrap="square" lIns="0" tIns="0" rIns="0" bIns="0" rtlCol="0" anchor="ctr"/>
          <a:lstStyle/>
          <a:p>
            <a:pPr algn="ctr"/>
            <a:r>
              <a:rPr lang="en-US" sz="1467" dirty="0">
                <a:solidFill>
                  <a:srgbClr val="FFFFFF"/>
                </a:solidFill>
                <a:latin typeface="Calibri" pitchFamily="34" charset="0"/>
                <a:ea typeface="Calibri" pitchFamily="34" charset="-122"/>
                <a:cs typeface="Calibri" pitchFamily="34" charset="-120"/>
              </a:rPr>
              <a:t>Low risk. Monitor normally.</a:t>
            </a:r>
            <a:endParaRPr lang="en-US" sz="1467" dirty="0"/>
          </a:p>
        </p:txBody>
      </p:sp>
      <p:sp>
        <p:nvSpPr>
          <p:cNvPr id="10" name="Shape 8"/>
          <p:cNvSpPr/>
          <p:nvPr/>
        </p:nvSpPr>
        <p:spPr>
          <a:xfrm>
            <a:off x="5561793" y="2130392"/>
            <a:ext cx="2489735" cy="3535680"/>
          </a:xfrm>
          <a:prstGeom prst="roundRect">
            <a:avLst>
              <a:gd name="adj" fmla="val 4528"/>
            </a:avLst>
          </a:prstGeom>
          <a:solidFill>
            <a:srgbClr val="D97706">
              <a:alpha val="85000"/>
            </a:srgbClr>
          </a:solidFill>
          <a:ln/>
          <a:effectLst>
            <a:outerShdw blurRad="76200" dist="25400" dir="2700000" algn="bl" rotWithShape="0">
              <a:srgbClr val="000000">
                <a:alpha val="12000"/>
              </a:srgbClr>
            </a:outerShdw>
          </a:effectLst>
        </p:spPr>
      </p:sp>
      <p:sp>
        <p:nvSpPr>
          <p:cNvPr id="11" name="Text 9"/>
          <p:cNvSpPr/>
          <p:nvPr/>
        </p:nvSpPr>
        <p:spPr>
          <a:xfrm>
            <a:off x="6095994" y="2237974"/>
            <a:ext cx="1421331" cy="731520"/>
          </a:xfrm>
          <a:prstGeom prst="rect">
            <a:avLst/>
          </a:prstGeom>
          <a:noFill/>
          <a:ln/>
        </p:spPr>
        <p:txBody>
          <a:bodyPr wrap="square" lIns="0" tIns="0" rIns="0" bIns="0" rtlCol="0" anchor="ctr"/>
          <a:lstStyle/>
          <a:p>
            <a:pPr algn="ctr"/>
            <a:r>
              <a:rPr lang="en-US" sz="4267" dirty="0">
                <a:solidFill>
                  <a:srgbClr val="000000"/>
                </a:solidFill>
              </a:rPr>
              <a:t>🟡</a:t>
            </a:r>
            <a:endParaRPr lang="en-US" sz="4267" dirty="0"/>
          </a:p>
        </p:txBody>
      </p:sp>
      <p:sp>
        <p:nvSpPr>
          <p:cNvPr id="12" name="Text 10"/>
          <p:cNvSpPr/>
          <p:nvPr/>
        </p:nvSpPr>
        <p:spPr>
          <a:xfrm>
            <a:off x="6009372" y="3110103"/>
            <a:ext cx="1421331" cy="548640"/>
          </a:xfrm>
          <a:prstGeom prst="rect">
            <a:avLst/>
          </a:prstGeom>
          <a:noFill/>
          <a:ln/>
        </p:spPr>
        <p:txBody>
          <a:bodyPr wrap="square" lIns="0" tIns="0" rIns="0" bIns="0" rtlCol="0" anchor="ctr"/>
          <a:lstStyle/>
          <a:p>
            <a:pPr algn="ctr"/>
            <a:r>
              <a:rPr lang="en-US" sz="2667" b="1" dirty="0">
                <a:solidFill>
                  <a:srgbClr val="FFFFFF"/>
                </a:solidFill>
                <a:latin typeface="Cambria" pitchFamily="34" charset="0"/>
                <a:ea typeface="Cambria" pitchFamily="34" charset="-122"/>
                <a:cs typeface="Cambria" pitchFamily="34" charset="-120"/>
              </a:rPr>
              <a:t>AMBER</a:t>
            </a:r>
            <a:endParaRPr lang="en-US" sz="2667" dirty="0"/>
          </a:p>
        </p:txBody>
      </p:sp>
      <p:sp>
        <p:nvSpPr>
          <p:cNvPr id="13" name="Text 11"/>
          <p:cNvSpPr/>
          <p:nvPr/>
        </p:nvSpPr>
        <p:spPr>
          <a:xfrm>
            <a:off x="6201878" y="3740558"/>
            <a:ext cx="1036320" cy="365760"/>
          </a:xfrm>
          <a:prstGeom prst="rect">
            <a:avLst/>
          </a:prstGeom>
          <a:noFill/>
          <a:ln/>
        </p:spPr>
        <p:txBody>
          <a:bodyPr wrap="square" lIns="0" tIns="0" rIns="0" bIns="0" rtlCol="0" anchor="ctr"/>
          <a:lstStyle/>
          <a:p>
            <a:pPr algn="ctr"/>
            <a:r>
              <a:rPr lang="en-US" sz="1600" dirty="0">
                <a:solidFill>
                  <a:srgbClr val="FFFFFF"/>
                </a:solidFill>
                <a:latin typeface="Calibri" pitchFamily="34" charset="0"/>
                <a:ea typeface="Calibri" pitchFamily="34" charset="-122"/>
                <a:cs typeface="Calibri" pitchFamily="34" charset="-120"/>
              </a:rPr>
              <a:t>Score: 2 – 3</a:t>
            </a:r>
            <a:endParaRPr lang="en-US" sz="1600" dirty="0"/>
          </a:p>
        </p:txBody>
      </p:sp>
      <p:sp>
        <p:nvSpPr>
          <p:cNvPr id="14" name="Text 12"/>
          <p:cNvSpPr/>
          <p:nvPr/>
        </p:nvSpPr>
        <p:spPr>
          <a:xfrm>
            <a:off x="5820076" y="4206240"/>
            <a:ext cx="1799924" cy="1097280"/>
          </a:xfrm>
          <a:prstGeom prst="rect">
            <a:avLst/>
          </a:prstGeom>
          <a:noFill/>
          <a:ln/>
        </p:spPr>
        <p:txBody>
          <a:bodyPr wrap="square" lIns="0" tIns="0" rIns="0" bIns="0" rtlCol="0" anchor="ctr"/>
          <a:lstStyle/>
          <a:p>
            <a:pPr algn="ctr"/>
            <a:r>
              <a:rPr lang="en-US" sz="1467" dirty="0">
                <a:solidFill>
                  <a:srgbClr val="FFFFFF"/>
                </a:solidFill>
                <a:latin typeface="Calibri" pitchFamily="34" charset="0"/>
                <a:ea typeface="Calibri" pitchFamily="34" charset="-122"/>
                <a:cs typeface="Calibri" pitchFamily="34" charset="-120"/>
              </a:rPr>
              <a:t>Watch closely. Consider proactive outreach.</a:t>
            </a:r>
            <a:endParaRPr lang="en-US" sz="1467" dirty="0"/>
          </a:p>
        </p:txBody>
      </p:sp>
      <p:sp>
        <p:nvSpPr>
          <p:cNvPr id="15" name="Shape 13"/>
          <p:cNvSpPr/>
          <p:nvPr/>
        </p:nvSpPr>
        <p:spPr>
          <a:xfrm>
            <a:off x="9144000" y="2130392"/>
            <a:ext cx="2255520" cy="3535680"/>
          </a:xfrm>
          <a:prstGeom prst="roundRect">
            <a:avLst>
              <a:gd name="adj" fmla="val 4528"/>
            </a:avLst>
          </a:prstGeom>
          <a:solidFill>
            <a:srgbClr val="C0392B">
              <a:alpha val="85000"/>
            </a:srgbClr>
          </a:solidFill>
          <a:ln/>
          <a:effectLst>
            <a:outerShdw blurRad="76200" dist="25400" dir="2700000" algn="bl" rotWithShape="0">
              <a:srgbClr val="000000">
                <a:alpha val="12000"/>
              </a:srgbClr>
            </a:outerShdw>
          </a:effectLst>
        </p:spPr>
      </p:sp>
      <p:sp>
        <p:nvSpPr>
          <p:cNvPr id="16" name="Text 14"/>
          <p:cNvSpPr/>
          <p:nvPr/>
        </p:nvSpPr>
        <p:spPr>
          <a:xfrm>
            <a:off x="9723120" y="2313272"/>
            <a:ext cx="1219200" cy="731520"/>
          </a:xfrm>
          <a:prstGeom prst="rect">
            <a:avLst/>
          </a:prstGeom>
          <a:noFill/>
          <a:ln/>
        </p:spPr>
        <p:txBody>
          <a:bodyPr wrap="square" lIns="0" tIns="0" rIns="0" bIns="0" rtlCol="0" anchor="ctr"/>
          <a:lstStyle/>
          <a:p>
            <a:pPr algn="ctr"/>
            <a:r>
              <a:rPr lang="en-US" sz="4267" dirty="0">
                <a:solidFill>
                  <a:srgbClr val="000000"/>
                </a:solidFill>
              </a:rPr>
              <a:t>🔴</a:t>
            </a:r>
            <a:endParaRPr lang="en-US" sz="4267" dirty="0"/>
          </a:p>
        </p:txBody>
      </p:sp>
      <p:sp>
        <p:nvSpPr>
          <p:cNvPr id="17" name="Text 15"/>
          <p:cNvSpPr/>
          <p:nvPr/>
        </p:nvSpPr>
        <p:spPr>
          <a:xfrm>
            <a:off x="9490508" y="3108960"/>
            <a:ext cx="1787091" cy="548640"/>
          </a:xfrm>
          <a:prstGeom prst="rect">
            <a:avLst/>
          </a:prstGeom>
          <a:noFill/>
          <a:ln/>
        </p:spPr>
        <p:txBody>
          <a:bodyPr wrap="square" lIns="0" tIns="0" rIns="0" bIns="0" rtlCol="0" anchor="ctr"/>
          <a:lstStyle/>
          <a:p>
            <a:pPr algn="ctr"/>
            <a:r>
              <a:rPr lang="en-US" sz="2667" b="1" dirty="0">
                <a:solidFill>
                  <a:srgbClr val="FFFFFF"/>
                </a:solidFill>
                <a:latin typeface="Cambria" pitchFamily="34" charset="0"/>
                <a:ea typeface="Cambria" pitchFamily="34" charset="-122"/>
                <a:cs typeface="Cambria" pitchFamily="34" charset="-120"/>
              </a:rPr>
              <a:t>RED</a:t>
            </a:r>
            <a:endParaRPr lang="en-US" sz="2667" dirty="0"/>
          </a:p>
        </p:txBody>
      </p:sp>
      <p:sp>
        <p:nvSpPr>
          <p:cNvPr id="18" name="Text 16"/>
          <p:cNvSpPr/>
          <p:nvPr/>
        </p:nvSpPr>
        <p:spPr>
          <a:xfrm>
            <a:off x="9144000" y="3718560"/>
            <a:ext cx="2133600" cy="365760"/>
          </a:xfrm>
          <a:prstGeom prst="rect">
            <a:avLst/>
          </a:prstGeom>
          <a:noFill/>
          <a:ln/>
        </p:spPr>
        <p:txBody>
          <a:bodyPr wrap="square" lIns="0" tIns="0" rIns="0" bIns="0" rtlCol="0" anchor="ctr"/>
          <a:lstStyle/>
          <a:p>
            <a:pPr algn="ctr"/>
            <a:r>
              <a:rPr lang="en-US" sz="1600" dirty="0">
                <a:solidFill>
                  <a:srgbClr val="FFFFFF"/>
                </a:solidFill>
                <a:latin typeface="Calibri" pitchFamily="34" charset="0"/>
                <a:ea typeface="Calibri" pitchFamily="34" charset="-122"/>
                <a:cs typeface="Calibri" pitchFamily="34" charset="-120"/>
              </a:rPr>
              <a:t>Score: 4 – 6</a:t>
            </a:r>
            <a:endParaRPr lang="en-US" sz="1600" dirty="0"/>
          </a:p>
        </p:txBody>
      </p:sp>
      <p:sp>
        <p:nvSpPr>
          <p:cNvPr id="19" name="Text 17"/>
          <p:cNvSpPr/>
          <p:nvPr/>
        </p:nvSpPr>
        <p:spPr>
          <a:xfrm>
            <a:off x="9144000" y="4206240"/>
            <a:ext cx="2011680" cy="1097280"/>
          </a:xfrm>
          <a:prstGeom prst="rect">
            <a:avLst/>
          </a:prstGeom>
          <a:noFill/>
          <a:ln/>
        </p:spPr>
        <p:txBody>
          <a:bodyPr wrap="square" lIns="0" tIns="0" rIns="0" bIns="0" rtlCol="0" anchor="ctr"/>
          <a:lstStyle/>
          <a:p>
            <a:pPr algn="ctr"/>
            <a:r>
              <a:rPr lang="en-US" sz="1467" dirty="0">
                <a:solidFill>
                  <a:srgbClr val="FFFFFF"/>
                </a:solidFill>
                <a:latin typeface="Calibri" pitchFamily="34" charset="0"/>
                <a:ea typeface="Calibri" pitchFamily="34" charset="-122"/>
                <a:cs typeface="Calibri" pitchFamily="34" charset="-120"/>
              </a:rPr>
              <a:t>High risk. Immediate intervention needed.</a:t>
            </a:r>
            <a:endParaRPr lang="en-US" sz="1467" dirty="0"/>
          </a:p>
        </p:txBody>
      </p:sp>
      <p:sp>
        <p:nvSpPr>
          <p:cNvPr id="20" name="Text 6">
            <a:extLst>
              <a:ext uri="{FF2B5EF4-FFF2-40B4-BE49-F238E27FC236}">
                <a16:creationId xmlns:a16="http://schemas.microsoft.com/office/drawing/2014/main" id="{19C7F416-73D5-3D1E-F332-617E60050AB9}"/>
              </a:ext>
            </a:extLst>
          </p:cNvPr>
          <p:cNvSpPr/>
          <p:nvPr/>
        </p:nvSpPr>
        <p:spPr>
          <a:xfrm>
            <a:off x="731520" y="6172441"/>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pPr algn="ctr"/>
            <a:r>
              <a:rPr lang="en-ZW" sz="4267" b="1" dirty="0">
                <a:latin typeface="Cambria" pitchFamily="34" charset="0"/>
                <a:ea typeface="Cambria" pitchFamily="34" charset="-122"/>
              </a:rPr>
              <a:t>Probability of Default Model</a:t>
            </a:r>
            <a:endParaRPr lang="en-US" sz="4267" b="1" dirty="0">
              <a:latin typeface="Cambria" pitchFamily="34" charset="0"/>
              <a:ea typeface="Cambria" pitchFamily="34" charset="-122"/>
            </a:endParaRPr>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11" name="Text 6">
            <a:extLst>
              <a:ext uri="{FF2B5EF4-FFF2-40B4-BE49-F238E27FC236}">
                <a16:creationId xmlns:a16="http://schemas.microsoft.com/office/drawing/2014/main" id="{77867A19-156D-75DE-4B0F-BBEAB0448796}"/>
              </a:ext>
            </a:extLst>
          </p:cNvPr>
          <p:cNvSpPr/>
          <p:nvPr/>
        </p:nvSpPr>
        <p:spPr>
          <a:xfrm>
            <a:off x="692816" y="6185464"/>
            <a:ext cx="6096000" cy="365760"/>
          </a:xfrm>
          <a:prstGeom prst="rect">
            <a:avLst/>
          </a:prstGeom>
          <a:noFill/>
          <a:ln/>
        </p:spPr>
        <p:txBody>
          <a:bodyPr wrap="square" lIns="0" tIns="0" rIns="0" bIns="0" rtlCol="0" anchor="ctr"/>
          <a:lstStyle/>
          <a:p>
            <a:r>
              <a:rPr lang="en-US" sz="1200" dirty="0">
                <a:latin typeface="Calibri" pitchFamily="34" charset="0"/>
                <a:cs typeface="Calibri" pitchFamily="34" charset="-120"/>
              </a:rPr>
              <a:t>©FortunateAnalytics2026</a:t>
            </a:r>
            <a:endParaRPr lang="en-US" sz="1200" dirty="0"/>
          </a:p>
        </p:txBody>
      </p:sp>
      <p:sp>
        <p:nvSpPr>
          <p:cNvPr id="13" name="TextBox 12">
            <a:extLst>
              <a:ext uri="{FF2B5EF4-FFF2-40B4-BE49-F238E27FC236}">
                <a16:creationId xmlns:a16="http://schemas.microsoft.com/office/drawing/2014/main" id="{0792AA6F-29F8-4500-C790-FCEE0055EDA3}"/>
              </a:ext>
            </a:extLst>
          </p:cNvPr>
          <p:cNvSpPr txBox="1"/>
          <p:nvPr/>
        </p:nvSpPr>
        <p:spPr>
          <a:xfrm>
            <a:off x="847023" y="1626669"/>
            <a:ext cx="8306602" cy="461665"/>
          </a:xfrm>
          <a:prstGeom prst="rect">
            <a:avLst/>
          </a:prstGeom>
          <a:noFill/>
        </p:spPr>
        <p:txBody>
          <a:bodyPr wrap="square">
            <a:spAutoFit/>
          </a:bodyPr>
          <a:lstStyle/>
          <a:p>
            <a:r>
              <a:rPr lang="en-US" sz="2400" b="1" dirty="0">
                <a:latin typeface="Cambria" pitchFamily="34" charset="0"/>
                <a:ea typeface="Cambria" pitchFamily="34" charset="-122"/>
              </a:rPr>
              <a:t>Model Comparison Summary:</a:t>
            </a:r>
          </a:p>
        </p:txBody>
      </p:sp>
      <p:graphicFrame>
        <p:nvGraphicFramePr>
          <p:cNvPr id="15" name="Table 15">
            <a:extLst>
              <a:ext uri="{FF2B5EF4-FFF2-40B4-BE49-F238E27FC236}">
                <a16:creationId xmlns:a16="http://schemas.microsoft.com/office/drawing/2014/main" id="{2AC79D2D-4824-682F-EF74-2A8331792AAC}"/>
              </a:ext>
            </a:extLst>
          </p:cNvPr>
          <p:cNvGraphicFramePr>
            <a:graphicFrameLocks noGrp="1"/>
          </p:cNvGraphicFramePr>
          <p:nvPr>
            <p:extLst>
              <p:ext uri="{D42A27DB-BD31-4B8C-83A1-F6EECF244321}">
                <p14:modId xmlns:p14="http://schemas.microsoft.com/office/powerpoint/2010/main" val="1523767487"/>
              </p:ext>
            </p:extLst>
          </p:nvPr>
        </p:nvGraphicFramePr>
        <p:xfrm>
          <a:off x="847023" y="2572309"/>
          <a:ext cx="7988865" cy="2696939"/>
        </p:xfrm>
        <a:graphic>
          <a:graphicData uri="http://schemas.openxmlformats.org/drawingml/2006/table">
            <a:tbl>
              <a:tblPr firstRow="1" bandRow="1">
                <a:tableStyleId>{3B4B98B0-60AC-42C2-AFA5-B58CD77FA1E5}</a:tableStyleId>
              </a:tblPr>
              <a:tblGrid>
                <a:gridCol w="2662955">
                  <a:extLst>
                    <a:ext uri="{9D8B030D-6E8A-4147-A177-3AD203B41FA5}">
                      <a16:colId xmlns:a16="http://schemas.microsoft.com/office/drawing/2014/main" val="1523505680"/>
                    </a:ext>
                  </a:extLst>
                </a:gridCol>
                <a:gridCol w="2662955">
                  <a:extLst>
                    <a:ext uri="{9D8B030D-6E8A-4147-A177-3AD203B41FA5}">
                      <a16:colId xmlns:a16="http://schemas.microsoft.com/office/drawing/2014/main" val="104229821"/>
                    </a:ext>
                  </a:extLst>
                </a:gridCol>
                <a:gridCol w="2662955">
                  <a:extLst>
                    <a:ext uri="{9D8B030D-6E8A-4147-A177-3AD203B41FA5}">
                      <a16:colId xmlns:a16="http://schemas.microsoft.com/office/drawing/2014/main" val="116368254"/>
                    </a:ext>
                  </a:extLst>
                </a:gridCol>
              </a:tblGrid>
              <a:tr h="513787">
                <a:tc>
                  <a:txBody>
                    <a:bodyPr/>
                    <a:lstStyle/>
                    <a:p>
                      <a:r>
                        <a:rPr lang="en-ZW" dirty="0">
                          <a:solidFill>
                            <a:schemeClr val="tx1"/>
                          </a:solidFill>
                        </a:rPr>
                        <a:t>Model </a:t>
                      </a:r>
                    </a:p>
                  </a:txBody>
                  <a:tcPr/>
                </a:tc>
                <a:tc>
                  <a:txBody>
                    <a:bodyPr/>
                    <a:lstStyle/>
                    <a:p>
                      <a:r>
                        <a:rPr lang="en-ZW" dirty="0">
                          <a:solidFill>
                            <a:schemeClr val="tx1"/>
                          </a:solidFill>
                        </a:rPr>
                        <a:t>Accuracy</a:t>
                      </a:r>
                    </a:p>
                  </a:txBody>
                  <a:tcPr/>
                </a:tc>
                <a:tc>
                  <a:txBody>
                    <a:bodyPr/>
                    <a:lstStyle/>
                    <a:p>
                      <a:r>
                        <a:rPr lang="en-ZW" dirty="0">
                          <a:solidFill>
                            <a:schemeClr val="tx1"/>
                          </a:solidFill>
                        </a:rPr>
                        <a:t>AUC Score</a:t>
                      </a:r>
                    </a:p>
                  </a:txBody>
                  <a:tcPr/>
                </a:tc>
                <a:extLst>
                  <a:ext uri="{0D108BD9-81ED-4DB2-BD59-A6C34878D82A}">
                    <a16:rowId xmlns:a16="http://schemas.microsoft.com/office/drawing/2014/main" val="2636698881"/>
                  </a:ext>
                </a:extLst>
              </a:tr>
              <a:tr h="513787">
                <a:tc>
                  <a:txBody>
                    <a:bodyPr/>
                    <a:lstStyle/>
                    <a:p>
                      <a:r>
                        <a:rPr lang="en-ZW" dirty="0">
                          <a:solidFill>
                            <a:schemeClr val="tx1"/>
                          </a:solidFill>
                        </a:rPr>
                        <a:t>Logistic Regression</a:t>
                      </a:r>
                    </a:p>
                  </a:txBody>
                  <a:tcPr/>
                </a:tc>
                <a:tc>
                  <a:txBody>
                    <a:bodyPr/>
                    <a:lstStyle/>
                    <a:p>
                      <a:r>
                        <a:rPr lang="en-ZW" dirty="0">
                          <a:solidFill>
                            <a:schemeClr val="tx1"/>
                          </a:solidFill>
                        </a:rPr>
                        <a:t>61.2%</a:t>
                      </a:r>
                    </a:p>
                  </a:txBody>
                  <a:tcPr/>
                </a:tc>
                <a:tc>
                  <a:txBody>
                    <a:bodyPr/>
                    <a:lstStyle/>
                    <a:p>
                      <a:pPr marL="0" algn="l" defTabSz="914400" rtl="0" eaLnBrk="1" latinLnBrk="0" hangingPunct="1"/>
                      <a:r>
                        <a:rPr lang="en-ZW" sz="1800" kern="1200" dirty="0">
                          <a:solidFill>
                            <a:schemeClr val="tx1"/>
                          </a:solidFill>
                        </a:rPr>
                        <a:t>0.6862 </a:t>
                      </a:r>
                      <a:endParaRPr lang="en-ZW" sz="1800" kern="1200" dirty="0">
                        <a:solidFill>
                          <a:schemeClr val="tx1"/>
                        </a:solidFill>
                        <a:latin typeface="+mn-lt"/>
                        <a:ea typeface="+mn-ea"/>
                        <a:cs typeface="+mn-cs"/>
                      </a:endParaRPr>
                    </a:p>
                  </a:txBody>
                  <a:tcPr/>
                </a:tc>
                <a:extLst>
                  <a:ext uri="{0D108BD9-81ED-4DB2-BD59-A6C34878D82A}">
                    <a16:rowId xmlns:a16="http://schemas.microsoft.com/office/drawing/2014/main" val="1814556970"/>
                  </a:ext>
                </a:extLst>
              </a:tr>
              <a:tr h="513787">
                <a:tc>
                  <a:txBody>
                    <a:bodyPr/>
                    <a:lstStyle/>
                    <a:p>
                      <a:r>
                        <a:rPr lang="en-ZW" dirty="0">
                          <a:solidFill>
                            <a:schemeClr val="tx1"/>
                          </a:solidFill>
                        </a:rPr>
                        <a:t>Decision Tree</a:t>
                      </a:r>
                    </a:p>
                  </a:txBody>
                  <a:tcPr/>
                </a:tc>
                <a:tc>
                  <a:txBody>
                    <a:bodyPr/>
                    <a:lstStyle/>
                    <a:p>
                      <a:r>
                        <a:rPr lang="en-ZW" dirty="0">
                          <a:solidFill>
                            <a:schemeClr val="tx1"/>
                          </a:solidFill>
                        </a:rPr>
                        <a:t>87.4%</a:t>
                      </a:r>
                    </a:p>
                  </a:txBody>
                  <a:tcPr/>
                </a:tc>
                <a:tc>
                  <a:txBody>
                    <a:bodyPr/>
                    <a:lstStyle/>
                    <a:p>
                      <a:pPr marL="0" algn="l" defTabSz="914400" rtl="0" eaLnBrk="1" latinLnBrk="0" hangingPunct="1"/>
                      <a:r>
                        <a:rPr lang="en-ZW" sz="1800" kern="1200" dirty="0">
                          <a:solidFill>
                            <a:schemeClr val="tx1"/>
                          </a:solidFill>
                        </a:rPr>
                        <a:t>0.8893 </a:t>
                      </a:r>
                      <a:endParaRPr lang="en-ZW" sz="1800" kern="1200" dirty="0">
                        <a:solidFill>
                          <a:schemeClr val="tx1"/>
                        </a:solidFill>
                        <a:latin typeface="+mn-lt"/>
                        <a:ea typeface="+mn-ea"/>
                        <a:cs typeface="+mn-cs"/>
                      </a:endParaRPr>
                    </a:p>
                  </a:txBody>
                  <a:tcPr/>
                </a:tc>
                <a:extLst>
                  <a:ext uri="{0D108BD9-81ED-4DB2-BD59-A6C34878D82A}">
                    <a16:rowId xmlns:a16="http://schemas.microsoft.com/office/drawing/2014/main" val="3503766108"/>
                  </a:ext>
                </a:extLst>
              </a:tr>
              <a:tr h="641791">
                <a:tc>
                  <a:txBody>
                    <a:bodyPr/>
                    <a:lstStyle/>
                    <a:p>
                      <a:r>
                        <a:rPr lang="en-ZW" dirty="0">
                          <a:solidFill>
                            <a:schemeClr val="tx1"/>
                          </a:solidFill>
                        </a:rPr>
                        <a:t>Random Forest</a:t>
                      </a:r>
                    </a:p>
                  </a:txBody>
                  <a:tcPr/>
                </a:tc>
                <a:tc>
                  <a:txBody>
                    <a:bodyPr/>
                    <a:lstStyle/>
                    <a:p>
                      <a:r>
                        <a:rPr lang="en-ZW" dirty="0">
                          <a:solidFill>
                            <a:schemeClr val="tx1"/>
                          </a:solidFill>
                        </a:rPr>
                        <a:t>89.8%</a:t>
                      </a:r>
                    </a:p>
                  </a:txBody>
                  <a:tcPr/>
                </a:tc>
                <a:tc>
                  <a:txBody>
                    <a:bodyPr/>
                    <a:lstStyle/>
                    <a:p>
                      <a:r>
                        <a:rPr lang="en-ZW" dirty="0">
                          <a:solidFill>
                            <a:schemeClr val="tx1"/>
                          </a:solidFill>
                        </a:rPr>
                        <a:t>0.9106</a:t>
                      </a:r>
                    </a:p>
                  </a:txBody>
                  <a:tcPr/>
                </a:tc>
                <a:extLst>
                  <a:ext uri="{0D108BD9-81ED-4DB2-BD59-A6C34878D82A}">
                    <a16:rowId xmlns:a16="http://schemas.microsoft.com/office/drawing/2014/main" val="1728686082"/>
                  </a:ext>
                </a:extLst>
              </a:tr>
              <a:tr h="513787">
                <a:tc>
                  <a:txBody>
                    <a:bodyPr/>
                    <a:lstStyle/>
                    <a:p>
                      <a:r>
                        <a:rPr lang="en-ZW" dirty="0">
                          <a:solidFill>
                            <a:schemeClr val="tx1"/>
                          </a:solidFill>
                        </a:rPr>
                        <a:t>Gradient Boosting</a:t>
                      </a:r>
                    </a:p>
                  </a:txBody>
                  <a:tcPr/>
                </a:tc>
                <a:tc>
                  <a:txBody>
                    <a:bodyPr/>
                    <a:lstStyle/>
                    <a:p>
                      <a:r>
                        <a:rPr lang="en-ZW" dirty="0">
                          <a:solidFill>
                            <a:schemeClr val="tx1"/>
                          </a:solidFill>
                        </a:rPr>
                        <a:t>89.7%</a:t>
                      </a:r>
                    </a:p>
                  </a:txBody>
                  <a:tcPr/>
                </a:tc>
                <a:tc>
                  <a:txBody>
                    <a:bodyPr/>
                    <a:lstStyle/>
                    <a:p>
                      <a:pPr marL="0" algn="l" defTabSz="914400" rtl="0" eaLnBrk="1" latinLnBrk="0" hangingPunct="1"/>
                      <a:r>
                        <a:rPr lang="en-ZW" sz="1800" kern="1200" dirty="0">
                          <a:solidFill>
                            <a:schemeClr val="tx1"/>
                          </a:solidFill>
                        </a:rPr>
                        <a:t>0.9073 </a:t>
                      </a:r>
                      <a:endParaRPr lang="en-ZW" sz="1800" kern="1200" dirty="0">
                        <a:solidFill>
                          <a:schemeClr val="tx1"/>
                        </a:solidFill>
                        <a:latin typeface="+mn-lt"/>
                        <a:ea typeface="+mn-ea"/>
                        <a:cs typeface="+mn-cs"/>
                      </a:endParaRPr>
                    </a:p>
                  </a:txBody>
                  <a:tcPr/>
                </a:tc>
                <a:extLst>
                  <a:ext uri="{0D108BD9-81ED-4DB2-BD59-A6C34878D82A}">
                    <a16:rowId xmlns:a16="http://schemas.microsoft.com/office/drawing/2014/main" val="3375811278"/>
                  </a:ext>
                </a:extLst>
              </a:tr>
            </a:tbl>
          </a:graphicData>
        </a:graphic>
      </p:graphicFrame>
      <p:sp>
        <p:nvSpPr>
          <p:cNvPr id="17" name="TextBox 16">
            <a:extLst>
              <a:ext uri="{FF2B5EF4-FFF2-40B4-BE49-F238E27FC236}">
                <a16:creationId xmlns:a16="http://schemas.microsoft.com/office/drawing/2014/main" id="{C0D66E1F-3848-216B-31DC-AFBF1F2F13DD}"/>
              </a:ext>
            </a:extLst>
          </p:cNvPr>
          <p:cNvSpPr txBox="1"/>
          <p:nvPr/>
        </p:nvSpPr>
        <p:spPr>
          <a:xfrm>
            <a:off x="5396768" y="5657671"/>
            <a:ext cx="6102416" cy="923330"/>
          </a:xfrm>
          <a:prstGeom prst="rect">
            <a:avLst/>
          </a:prstGeom>
          <a:noFill/>
        </p:spPr>
        <p:txBody>
          <a:bodyPr wrap="square">
            <a:spAutoFit/>
          </a:bodyPr>
          <a:lstStyle/>
          <a:p>
            <a:r>
              <a:rPr lang="en-US" dirty="0"/>
              <a:t>Our Model was trained using 4 different models. Random Forest was the best performing model with an accuracy of 89.8% and AUC Score of 0.9106</a:t>
            </a:r>
            <a:endParaRPr lang="en-ZW"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Model </a:t>
            </a:r>
            <a:r>
              <a:rPr lang="en-ZW" sz="4267" b="1" dirty="0">
                <a:latin typeface="Cambria" pitchFamily="34" charset="0"/>
                <a:ea typeface="Cambria" pitchFamily="34" charset="-122"/>
              </a:rPr>
              <a:t>Explainability</a:t>
            </a:r>
            <a:endParaRPr lang="en-US" sz="4267" b="1" dirty="0">
              <a:latin typeface="Cambria" pitchFamily="34" charset="0"/>
              <a:ea typeface="Cambria" pitchFamily="34" charset="-122"/>
            </a:endParaRPr>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16" name="Text 6">
            <a:extLst>
              <a:ext uri="{FF2B5EF4-FFF2-40B4-BE49-F238E27FC236}">
                <a16:creationId xmlns:a16="http://schemas.microsoft.com/office/drawing/2014/main" id="{B0E5960A-0BF5-0411-9837-4577FDAA6D66}"/>
              </a:ext>
            </a:extLst>
          </p:cNvPr>
          <p:cNvSpPr/>
          <p:nvPr/>
        </p:nvSpPr>
        <p:spPr>
          <a:xfrm>
            <a:off x="712168" y="6346615"/>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
        <p:nvSpPr>
          <p:cNvPr id="22" name="TextBox 21">
            <a:extLst>
              <a:ext uri="{FF2B5EF4-FFF2-40B4-BE49-F238E27FC236}">
                <a16:creationId xmlns:a16="http://schemas.microsoft.com/office/drawing/2014/main" id="{5DD14285-5F52-896D-37E2-53607CA3F6F3}"/>
              </a:ext>
            </a:extLst>
          </p:cNvPr>
          <p:cNvSpPr txBox="1"/>
          <p:nvPr/>
        </p:nvSpPr>
        <p:spPr>
          <a:xfrm>
            <a:off x="7010401" y="2651471"/>
            <a:ext cx="3657600" cy="1200329"/>
          </a:xfrm>
          <a:prstGeom prst="rect">
            <a:avLst/>
          </a:prstGeom>
          <a:noFill/>
        </p:spPr>
        <p:txBody>
          <a:bodyPr wrap="square">
            <a:spAutoFit/>
          </a:bodyPr>
          <a:lstStyle/>
          <a:p>
            <a:r>
              <a:rPr lang="en-US" dirty="0">
                <a:solidFill>
                  <a:srgbClr val="FFFFFF"/>
                </a:solidFill>
                <a:latin typeface="Consolas" panose="020B0609020204030204" pitchFamily="49" charset="0"/>
              </a:rPr>
              <a:t>Each dot is one borrower. Red = high feature value. Dots on the right = pushes toward default.</a:t>
            </a:r>
          </a:p>
        </p:txBody>
      </p:sp>
      <p:pic>
        <p:nvPicPr>
          <p:cNvPr id="5" name="Picture 4">
            <a:extLst>
              <a:ext uri="{FF2B5EF4-FFF2-40B4-BE49-F238E27FC236}">
                <a16:creationId xmlns:a16="http://schemas.microsoft.com/office/drawing/2014/main" id="{6908AC29-4A22-64AA-1727-FF40C5C22735}"/>
              </a:ext>
            </a:extLst>
          </p:cNvPr>
          <p:cNvPicPr>
            <a:picLocks noChangeAspect="1"/>
          </p:cNvPicPr>
          <p:nvPr/>
        </p:nvPicPr>
        <p:blipFill>
          <a:blip r:embed="rId3"/>
          <a:stretch>
            <a:fillRect/>
          </a:stretch>
        </p:blipFill>
        <p:spPr>
          <a:xfrm>
            <a:off x="609600" y="1072896"/>
            <a:ext cx="5858577" cy="5383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Model </a:t>
            </a:r>
            <a:r>
              <a:rPr lang="en-ZW" sz="4267" b="1" dirty="0">
                <a:latin typeface="Cambria" pitchFamily="34" charset="0"/>
                <a:ea typeface="Cambria" pitchFamily="34" charset="-122"/>
              </a:rPr>
              <a:t>Explainability</a:t>
            </a:r>
            <a:endParaRPr lang="en-US" sz="4267" b="1" dirty="0">
              <a:latin typeface="Cambria" pitchFamily="34" charset="0"/>
              <a:ea typeface="Cambria" pitchFamily="34" charset="-122"/>
            </a:endParaRPr>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16" name="Text 6">
            <a:extLst>
              <a:ext uri="{FF2B5EF4-FFF2-40B4-BE49-F238E27FC236}">
                <a16:creationId xmlns:a16="http://schemas.microsoft.com/office/drawing/2014/main" id="{B0E5960A-0BF5-0411-9837-4577FDAA6D66}"/>
              </a:ext>
            </a:extLst>
          </p:cNvPr>
          <p:cNvSpPr/>
          <p:nvPr/>
        </p:nvSpPr>
        <p:spPr>
          <a:xfrm>
            <a:off x="712168" y="6346615"/>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pic>
        <p:nvPicPr>
          <p:cNvPr id="18" name="Picture 17">
            <a:extLst>
              <a:ext uri="{FF2B5EF4-FFF2-40B4-BE49-F238E27FC236}">
                <a16:creationId xmlns:a16="http://schemas.microsoft.com/office/drawing/2014/main" id="{E90E5AC9-D154-41AE-8ACB-0912082F5FB3}"/>
              </a:ext>
            </a:extLst>
          </p:cNvPr>
          <p:cNvPicPr>
            <a:picLocks noChangeAspect="1"/>
          </p:cNvPicPr>
          <p:nvPr/>
        </p:nvPicPr>
        <p:blipFill rotWithShape="1">
          <a:blip r:embed="rId3"/>
          <a:srcRect l="16615" r="1861" b="65756"/>
          <a:stretch/>
        </p:blipFill>
        <p:spPr>
          <a:xfrm>
            <a:off x="5072514" y="1911665"/>
            <a:ext cx="6096000" cy="3508357"/>
          </a:xfrm>
          <a:prstGeom prst="rect">
            <a:avLst/>
          </a:prstGeom>
        </p:spPr>
      </p:pic>
      <p:sp>
        <p:nvSpPr>
          <p:cNvPr id="20" name="TextBox 19">
            <a:extLst>
              <a:ext uri="{FF2B5EF4-FFF2-40B4-BE49-F238E27FC236}">
                <a16:creationId xmlns:a16="http://schemas.microsoft.com/office/drawing/2014/main" id="{E93F64BF-1558-0662-B5CA-D3C134658F77}"/>
              </a:ext>
            </a:extLst>
          </p:cNvPr>
          <p:cNvSpPr txBox="1"/>
          <p:nvPr/>
        </p:nvSpPr>
        <p:spPr>
          <a:xfrm>
            <a:off x="5446645" y="1494057"/>
            <a:ext cx="6102626" cy="369332"/>
          </a:xfrm>
          <a:prstGeom prst="rect">
            <a:avLst/>
          </a:prstGeom>
          <a:noFill/>
        </p:spPr>
        <p:txBody>
          <a:bodyPr wrap="square">
            <a:spAutoFit/>
          </a:bodyPr>
          <a:lstStyle/>
          <a:p>
            <a:r>
              <a:rPr lang="en-ZW" dirty="0">
                <a:solidFill>
                  <a:srgbClr val="FFFFFF"/>
                </a:solidFill>
                <a:latin typeface="Consolas" panose="020B0609020204030204" pitchFamily="49" charset="0"/>
              </a:rPr>
              <a:t>Top Drivers</a:t>
            </a:r>
          </a:p>
        </p:txBody>
      </p:sp>
      <p:sp>
        <p:nvSpPr>
          <p:cNvPr id="22" name="TextBox 21">
            <a:extLst>
              <a:ext uri="{FF2B5EF4-FFF2-40B4-BE49-F238E27FC236}">
                <a16:creationId xmlns:a16="http://schemas.microsoft.com/office/drawing/2014/main" id="{5DD14285-5F52-896D-37E2-53607CA3F6F3}"/>
              </a:ext>
            </a:extLst>
          </p:cNvPr>
          <p:cNvSpPr txBox="1"/>
          <p:nvPr/>
        </p:nvSpPr>
        <p:spPr>
          <a:xfrm>
            <a:off x="609600" y="3373366"/>
            <a:ext cx="3657600" cy="1200329"/>
          </a:xfrm>
          <a:prstGeom prst="rect">
            <a:avLst/>
          </a:prstGeom>
          <a:noFill/>
        </p:spPr>
        <p:txBody>
          <a:bodyPr wrap="square">
            <a:spAutoFit/>
          </a:bodyPr>
          <a:lstStyle/>
          <a:p>
            <a:r>
              <a:rPr lang="en-US" b="0" dirty="0">
                <a:solidFill>
                  <a:srgbClr val="FFFFFF"/>
                </a:solidFill>
                <a:effectLst/>
                <a:latin typeface="Consolas" panose="020B0609020204030204" pitchFamily="49" charset="0"/>
              </a:rPr>
              <a:t>Using the best-performing model (Random Forest) to explain which features drive default predictions.</a:t>
            </a:r>
          </a:p>
        </p:txBody>
      </p:sp>
    </p:spTree>
    <p:extLst>
      <p:ext uri="{BB962C8B-B14F-4D97-AF65-F5344CB8AC3E}">
        <p14:creationId xmlns:p14="http://schemas.microsoft.com/office/powerpoint/2010/main" val="1150026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609600" y="341376"/>
            <a:ext cx="10972800" cy="731520"/>
          </a:xfrm>
          <a:prstGeom prst="rect">
            <a:avLst/>
          </a:prstGeom>
          <a:noFill/>
          <a:ln/>
        </p:spPr>
        <p:txBody>
          <a:bodyPr wrap="square" lIns="0" tIns="0" rIns="0" bIns="0" rtlCol="0" anchor="ctr"/>
          <a:lstStyle/>
          <a:p>
            <a:r>
              <a:rPr lang="en-US" sz="4267" b="1" dirty="0">
                <a:solidFill>
                  <a:srgbClr val="FFFFFF"/>
                </a:solidFill>
                <a:latin typeface="Cambria" pitchFamily="34" charset="0"/>
                <a:ea typeface="Cambria" pitchFamily="34" charset="-122"/>
                <a:cs typeface="Cambria" pitchFamily="34" charset="-120"/>
              </a:rPr>
              <a:t>The System in Action: Two Borrowers</a:t>
            </a:r>
            <a:endParaRPr lang="en-US" sz="4267" dirty="0"/>
          </a:p>
        </p:txBody>
      </p:sp>
      <p:sp>
        <p:nvSpPr>
          <p:cNvPr id="4" name="Shape 2"/>
          <p:cNvSpPr/>
          <p:nvPr/>
        </p:nvSpPr>
        <p:spPr>
          <a:xfrm>
            <a:off x="426720" y="1340000"/>
            <a:ext cx="5120640" cy="4632960"/>
          </a:xfrm>
          <a:prstGeom prst="roundRect">
            <a:avLst>
              <a:gd name="adj" fmla="val 2105"/>
            </a:avLst>
          </a:prstGeom>
          <a:solidFill>
            <a:srgbClr val="0F2A1F"/>
          </a:solidFill>
          <a:ln w="12700">
            <a:solidFill>
              <a:srgbClr val="D0E8EC"/>
            </a:solidFill>
            <a:prstDash val="solid"/>
          </a:ln>
          <a:effectLst>
            <a:outerShdw blurRad="76200" dist="25400" dir="2700000" algn="bl" rotWithShape="0">
              <a:srgbClr val="000000">
                <a:alpha val="12000"/>
              </a:srgbClr>
            </a:outerShdw>
          </a:effectLst>
        </p:spPr>
        <p:txBody>
          <a:bodyPr/>
          <a:lstStyle/>
          <a:p>
            <a:endParaRPr lang="en-ZW" dirty="0"/>
          </a:p>
        </p:txBody>
      </p:sp>
      <p:sp>
        <p:nvSpPr>
          <p:cNvPr id="5" name="Text 3"/>
          <p:cNvSpPr/>
          <p:nvPr/>
        </p:nvSpPr>
        <p:spPr>
          <a:xfrm>
            <a:off x="670560" y="1402080"/>
            <a:ext cx="4754880" cy="463296"/>
          </a:xfrm>
          <a:prstGeom prst="rect">
            <a:avLst/>
          </a:prstGeom>
          <a:noFill/>
          <a:ln/>
        </p:spPr>
        <p:txBody>
          <a:bodyPr wrap="square" lIns="0" tIns="0" rIns="0" bIns="0" rtlCol="0" anchor="ctr"/>
          <a:lstStyle/>
          <a:p>
            <a:r>
              <a:rPr lang="en-US" sz="1867" b="1" dirty="0">
                <a:solidFill>
                  <a:srgbClr val="4ADE80"/>
                </a:solidFill>
                <a:latin typeface="Cambria" pitchFamily="34" charset="0"/>
                <a:ea typeface="Cambria" pitchFamily="34" charset="-122"/>
                <a:cs typeface="Cambria" pitchFamily="34" charset="-120"/>
              </a:rPr>
              <a:t>🟢  Borrower A</a:t>
            </a:r>
            <a:endParaRPr lang="en-US" sz="1867" dirty="0"/>
          </a:p>
        </p:txBody>
      </p:sp>
      <p:sp>
        <p:nvSpPr>
          <p:cNvPr id="6" name="Text 4"/>
          <p:cNvSpPr/>
          <p:nvPr/>
        </p:nvSpPr>
        <p:spPr>
          <a:xfrm>
            <a:off x="670560" y="1950720"/>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Credit Score: 810</a:t>
            </a:r>
          </a:p>
          <a:p>
            <a:endParaRPr lang="en-US" sz="1600" dirty="0"/>
          </a:p>
        </p:txBody>
      </p:sp>
      <p:sp>
        <p:nvSpPr>
          <p:cNvPr id="7" name="Text 5"/>
          <p:cNvSpPr/>
          <p:nvPr/>
        </p:nvSpPr>
        <p:spPr>
          <a:xfrm>
            <a:off x="655320" y="2486287"/>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DSCR: 2.8</a:t>
            </a:r>
            <a:endParaRPr lang="en-US" sz="1600" dirty="0"/>
          </a:p>
        </p:txBody>
      </p:sp>
      <p:sp>
        <p:nvSpPr>
          <p:cNvPr id="9" name="Text 7"/>
          <p:cNvSpPr/>
          <p:nvPr/>
        </p:nvSpPr>
        <p:spPr>
          <a:xfrm>
            <a:off x="640080" y="3021854"/>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DTI: 18% </a:t>
            </a:r>
            <a:endParaRPr lang="en-US" sz="1600" dirty="0"/>
          </a:p>
        </p:txBody>
      </p:sp>
      <p:sp>
        <p:nvSpPr>
          <p:cNvPr id="10" name="Text 8"/>
          <p:cNvSpPr/>
          <p:nvPr/>
        </p:nvSpPr>
        <p:spPr>
          <a:xfrm>
            <a:off x="609600" y="4092989"/>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LTV: 43% </a:t>
            </a:r>
            <a:endParaRPr lang="en-US" sz="1600" dirty="0"/>
          </a:p>
        </p:txBody>
      </p:sp>
      <p:sp>
        <p:nvSpPr>
          <p:cNvPr id="11" name="Shape 9"/>
          <p:cNvSpPr/>
          <p:nvPr/>
        </p:nvSpPr>
        <p:spPr>
          <a:xfrm>
            <a:off x="609600" y="4598635"/>
            <a:ext cx="4754880" cy="1244538"/>
          </a:xfrm>
          <a:prstGeom prst="roundRect">
            <a:avLst>
              <a:gd name="adj" fmla="val 8421"/>
            </a:avLst>
          </a:prstGeom>
          <a:solidFill>
            <a:srgbClr val="1E8A5E"/>
          </a:solidFill>
          <a:ln/>
        </p:spPr>
      </p:sp>
      <p:sp>
        <p:nvSpPr>
          <p:cNvPr id="12" name="Text 10"/>
          <p:cNvSpPr/>
          <p:nvPr/>
        </p:nvSpPr>
        <p:spPr>
          <a:xfrm>
            <a:off x="1211179" y="4840391"/>
            <a:ext cx="3673642" cy="767775"/>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Risk Band: GREEN</a:t>
            </a:r>
            <a:endParaRPr lang="en-US" sz="1600" dirty="0"/>
          </a:p>
          <a:p>
            <a:pPr algn="ctr"/>
            <a:r>
              <a:rPr lang="en-US" sz="1600" b="1" dirty="0">
                <a:solidFill>
                  <a:srgbClr val="FFFFFF"/>
                </a:solidFill>
                <a:latin typeface="Cambria" pitchFamily="34" charset="0"/>
                <a:ea typeface="Cambria" pitchFamily="34" charset="-122"/>
                <a:cs typeface="Cambria" pitchFamily="34" charset="-120"/>
              </a:rPr>
              <a:t>EWS Score: 1  →  Monitor normally</a:t>
            </a:r>
            <a:endParaRPr lang="en-US" sz="1600" dirty="0"/>
          </a:p>
        </p:txBody>
      </p:sp>
      <p:sp>
        <p:nvSpPr>
          <p:cNvPr id="13" name="Shape 11"/>
          <p:cNvSpPr/>
          <p:nvPr/>
        </p:nvSpPr>
        <p:spPr>
          <a:xfrm>
            <a:off x="6461760" y="1343526"/>
            <a:ext cx="5120640" cy="4632960"/>
          </a:xfrm>
          <a:prstGeom prst="roundRect">
            <a:avLst>
              <a:gd name="adj" fmla="val 2105"/>
            </a:avLst>
          </a:prstGeom>
          <a:solidFill>
            <a:srgbClr val="2A0F0F"/>
          </a:solidFill>
          <a:ln w="12700">
            <a:solidFill>
              <a:srgbClr val="D0E8EC"/>
            </a:solidFill>
            <a:prstDash val="solid"/>
          </a:ln>
          <a:effectLst>
            <a:outerShdw blurRad="76200" dist="25400" dir="2700000" algn="bl" rotWithShape="0">
              <a:srgbClr val="000000">
                <a:alpha val="12000"/>
              </a:srgbClr>
            </a:outerShdw>
          </a:effectLst>
        </p:spPr>
        <p:txBody>
          <a:bodyPr/>
          <a:lstStyle/>
          <a:p>
            <a:endParaRPr lang="en-ZW" dirty="0"/>
          </a:p>
        </p:txBody>
      </p:sp>
      <p:sp>
        <p:nvSpPr>
          <p:cNvPr id="14" name="Text 12"/>
          <p:cNvSpPr/>
          <p:nvPr/>
        </p:nvSpPr>
        <p:spPr>
          <a:xfrm>
            <a:off x="6705600" y="1402080"/>
            <a:ext cx="4754880" cy="463296"/>
          </a:xfrm>
          <a:prstGeom prst="rect">
            <a:avLst/>
          </a:prstGeom>
          <a:noFill/>
          <a:ln/>
        </p:spPr>
        <p:txBody>
          <a:bodyPr wrap="square" lIns="0" tIns="0" rIns="0" bIns="0" rtlCol="0" anchor="ctr"/>
          <a:lstStyle/>
          <a:p>
            <a:r>
              <a:rPr lang="en-US" sz="1867" b="1" dirty="0">
                <a:solidFill>
                  <a:srgbClr val="F87171"/>
                </a:solidFill>
                <a:latin typeface="Cambria" pitchFamily="34" charset="0"/>
                <a:ea typeface="Cambria" pitchFamily="34" charset="-122"/>
                <a:cs typeface="Cambria" pitchFamily="34" charset="-120"/>
              </a:rPr>
              <a:t>🔴  Borrower B</a:t>
            </a:r>
            <a:endParaRPr lang="en-US" sz="1867" dirty="0"/>
          </a:p>
        </p:txBody>
      </p:sp>
      <p:sp>
        <p:nvSpPr>
          <p:cNvPr id="15" name="Text 13"/>
          <p:cNvSpPr/>
          <p:nvPr/>
        </p:nvSpPr>
        <p:spPr>
          <a:xfrm>
            <a:off x="6705600" y="2031405"/>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Credit Score: 340</a:t>
            </a:r>
            <a:endParaRPr lang="en-US" sz="1600" dirty="0"/>
          </a:p>
        </p:txBody>
      </p:sp>
      <p:sp>
        <p:nvSpPr>
          <p:cNvPr id="16" name="Text 14"/>
          <p:cNvSpPr/>
          <p:nvPr/>
        </p:nvSpPr>
        <p:spPr>
          <a:xfrm>
            <a:off x="6729984" y="2534325"/>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DSCR: 0.6	</a:t>
            </a:r>
            <a:endParaRPr lang="en-US" sz="1600" dirty="0"/>
          </a:p>
        </p:txBody>
      </p:sp>
      <p:sp>
        <p:nvSpPr>
          <p:cNvPr id="18" name="Text 16"/>
          <p:cNvSpPr/>
          <p:nvPr/>
        </p:nvSpPr>
        <p:spPr>
          <a:xfrm>
            <a:off x="6803136" y="3340608"/>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R</a:t>
            </a:r>
            <a:r>
              <a:rPr lang="en-ZW" sz="1600" dirty="0" err="1">
                <a:solidFill>
                  <a:srgbClr val="FFFFFF"/>
                </a:solidFill>
                <a:latin typeface="Calibri" pitchFamily="34" charset="0"/>
                <a:cs typeface="Calibri" pitchFamily="34" charset="-120"/>
              </a:rPr>
              <a:t>evol</a:t>
            </a:r>
            <a:r>
              <a:rPr lang="en-ZW" sz="1600" b="0" i="0" dirty="0">
                <a:solidFill>
                  <a:srgbClr val="3D3D3A"/>
                </a:solidFill>
                <a:effectLst/>
                <a:latin typeface="Anthropic Sans"/>
              </a:rPr>
              <a:t> </a:t>
            </a:r>
            <a:r>
              <a:rPr lang="en-ZW" sz="1600" dirty="0">
                <a:solidFill>
                  <a:srgbClr val="FFFFFF"/>
                </a:solidFill>
                <a:latin typeface="Calibri" pitchFamily="34" charset="0"/>
                <a:cs typeface="Calibri" pitchFamily="34" charset="-120"/>
              </a:rPr>
              <a:t>Util</a:t>
            </a:r>
            <a:r>
              <a:rPr lang="en-US" sz="1600" dirty="0">
                <a:solidFill>
                  <a:srgbClr val="FFFFFF"/>
                </a:solidFill>
                <a:latin typeface="Calibri" pitchFamily="34" charset="0"/>
                <a:ea typeface="Calibri" pitchFamily="34" charset="-122"/>
                <a:cs typeface="Calibri" pitchFamily="34" charset="-120"/>
              </a:rPr>
              <a:t> 92% </a:t>
            </a:r>
            <a:endParaRPr lang="en-US" sz="1600" dirty="0"/>
          </a:p>
        </p:txBody>
      </p:sp>
      <p:sp>
        <p:nvSpPr>
          <p:cNvPr id="19" name="Text 17"/>
          <p:cNvSpPr/>
          <p:nvPr/>
        </p:nvSpPr>
        <p:spPr>
          <a:xfrm>
            <a:off x="6754368" y="3956304"/>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LTV: 180% </a:t>
            </a:r>
            <a:endParaRPr lang="en-US" sz="1600" dirty="0"/>
          </a:p>
        </p:txBody>
      </p:sp>
      <p:sp>
        <p:nvSpPr>
          <p:cNvPr id="20" name="Shape 18"/>
          <p:cNvSpPr/>
          <p:nvPr/>
        </p:nvSpPr>
        <p:spPr>
          <a:xfrm>
            <a:off x="6583680" y="4626864"/>
            <a:ext cx="4754880" cy="1228825"/>
          </a:xfrm>
          <a:prstGeom prst="roundRect">
            <a:avLst>
              <a:gd name="adj" fmla="val 8421"/>
            </a:avLst>
          </a:prstGeom>
          <a:solidFill>
            <a:srgbClr val="C0392B"/>
          </a:solidFill>
          <a:ln/>
        </p:spPr>
      </p:sp>
      <p:sp>
        <p:nvSpPr>
          <p:cNvPr id="21" name="Text 19"/>
          <p:cNvSpPr/>
          <p:nvPr/>
        </p:nvSpPr>
        <p:spPr>
          <a:xfrm>
            <a:off x="6968690" y="4915142"/>
            <a:ext cx="3984859" cy="731520"/>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Risk Band: RED</a:t>
            </a:r>
            <a:endParaRPr lang="en-US" sz="1600" dirty="0"/>
          </a:p>
          <a:p>
            <a:pPr algn="ctr"/>
            <a:r>
              <a:rPr lang="en-US" sz="1600" b="1" dirty="0">
                <a:solidFill>
                  <a:srgbClr val="FFFFFF"/>
                </a:solidFill>
                <a:latin typeface="Cambria" pitchFamily="34" charset="0"/>
                <a:ea typeface="Cambria" pitchFamily="34" charset="-122"/>
                <a:cs typeface="Cambria" pitchFamily="34" charset="-120"/>
              </a:rPr>
              <a:t>EWS Score: 5  →  Intervene immediately</a:t>
            </a:r>
            <a:endParaRPr lang="en-US" sz="1600" dirty="0"/>
          </a:p>
        </p:txBody>
      </p:sp>
      <p:sp>
        <p:nvSpPr>
          <p:cNvPr id="22" name="Text 6">
            <a:extLst>
              <a:ext uri="{FF2B5EF4-FFF2-40B4-BE49-F238E27FC236}">
                <a16:creationId xmlns:a16="http://schemas.microsoft.com/office/drawing/2014/main" id="{9DDDFB44-65F6-064E-9076-F7BE7068E980}"/>
              </a:ext>
            </a:extLst>
          </p:cNvPr>
          <p:cNvSpPr/>
          <p:nvPr/>
        </p:nvSpPr>
        <p:spPr>
          <a:xfrm>
            <a:off x="487680" y="6333744"/>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
        <p:nvSpPr>
          <p:cNvPr id="24" name="Text 6">
            <a:extLst>
              <a:ext uri="{FF2B5EF4-FFF2-40B4-BE49-F238E27FC236}">
                <a16:creationId xmlns:a16="http://schemas.microsoft.com/office/drawing/2014/main" id="{F6C991BE-D7C7-FEBE-4E37-57792E98373A}"/>
              </a:ext>
            </a:extLst>
          </p:cNvPr>
          <p:cNvSpPr/>
          <p:nvPr/>
        </p:nvSpPr>
        <p:spPr>
          <a:xfrm>
            <a:off x="624840" y="3557421"/>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Revolt Util: 30%</a:t>
            </a:r>
            <a:endParaRPr lang="en-US" sz="1600" dirty="0"/>
          </a:p>
        </p:txBody>
      </p:sp>
      <p:sp>
        <p:nvSpPr>
          <p:cNvPr id="26" name="Text 16">
            <a:extLst>
              <a:ext uri="{FF2B5EF4-FFF2-40B4-BE49-F238E27FC236}">
                <a16:creationId xmlns:a16="http://schemas.microsoft.com/office/drawing/2014/main" id="{B33101D0-F0BA-692E-1A06-6C3F0EA74886}"/>
              </a:ext>
            </a:extLst>
          </p:cNvPr>
          <p:cNvSpPr/>
          <p:nvPr/>
        </p:nvSpPr>
        <p:spPr>
          <a:xfrm>
            <a:off x="6778752" y="2997466"/>
            <a:ext cx="4754880" cy="390144"/>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DTI: 85% </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341376"/>
            <a:ext cx="10972800" cy="731520"/>
          </a:xfrm>
          <a:prstGeom prst="rect">
            <a:avLst/>
          </a:prstGeom>
          <a:noFill/>
          <a:ln/>
        </p:spPr>
        <p:txBody>
          <a:bodyPr wrap="square" lIns="0" tIns="0" rIns="0" bIns="0" rtlCol="0" anchor="ctr"/>
          <a:lstStyle/>
          <a:p>
            <a:r>
              <a:rPr lang="en-US" sz="4267" b="1" dirty="0">
                <a:latin typeface="Cambria" pitchFamily="34" charset="0"/>
                <a:ea typeface="Cambria" pitchFamily="34" charset="-122"/>
                <a:cs typeface="Cambria" pitchFamily="34" charset="-120"/>
              </a:rPr>
              <a:t>Business Impact</a:t>
            </a:r>
            <a:endParaRPr lang="en-US" sz="4267" dirty="0"/>
          </a:p>
        </p:txBody>
      </p:sp>
      <p:sp>
        <p:nvSpPr>
          <p:cNvPr id="3" name="Shape 1"/>
          <p:cNvSpPr/>
          <p:nvPr/>
        </p:nvSpPr>
        <p:spPr>
          <a:xfrm>
            <a:off x="0" y="0"/>
            <a:ext cx="12192000" cy="146304"/>
          </a:xfrm>
          <a:prstGeom prst="rect">
            <a:avLst/>
          </a:prstGeom>
          <a:solidFill>
            <a:srgbClr val="0A7E8C"/>
          </a:solidFill>
          <a:ln w="12700">
            <a:solidFill>
              <a:srgbClr val="0A7E8C"/>
            </a:solidFill>
            <a:prstDash val="solid"/>
          </a:ln>
        </p:spPr>
      </p:sp>
      <p:sp>
        <p:nvSpPr>
          <p:cNvPr id="4" name="Shape 2"/>
          <p:cNvSpPr/>
          <p:nvPr/>
        </p:nvSpPr>
        <p:spPr>
          <a:xfrm>
            <a:off x="548640" y="121920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5" name="Text 3"/>
          <p:cNvSpPr/>
          <p:nvPr/>
        </p:nvSpPr>
        <p:spPr>
          <a:xfrm>
            <a:off x="768096" y="140208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Lower Loan Losses</a:t>
            </a:r>
            <a:endParaRPr lang="en-US" sz="1733" dirty="0"/>
          </a:p>
        </p:txBody>
      </p:sp>
      <p:sp>
        <p:nvSpPr>
          <p:cNvPr id="6" name="Text 4"/>
          <p:cNvSpPr/>
          <p:nvPr/>
        </p:nvSpPr>
        <p:spPr>
          <a:xfrm>
            <a:off x="768096" y="1950720"/>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Earlier flagging enables intervention before default is certain. Restructuring a loan costs less than writing it off.</a:t>
            </a:r>
            <a:endParaRPr lang="en-US" sz="1600" dirty="0"/>
          </a:p>
        </p:txBody>
      </p:sp>
      <p:sp>
        <p:nvSpPr>
          <p:cNvPr id="7" name="Shape 5"/>
          <p:cNvSpPr/>
          <p:nvPr/>
        </p:nvSpPr>
        <p:spPr>
          <a:xfrm>
            <a:off x="6278880" y="121920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8" name="Text 6"/>
          <p:cNvSpPr/>
          <p:nvPr/>
        </p:nvSpPr>
        <p:spPr>
          <a:xfrm>
            <a:off x="6498336" y="140208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Accurate Provisioning</a:t>
            </a:r>
            <a:endParaRPr lang="en-US" sz="1733" dirty="0"/>
          </a:p>
        </p:txBody>
      </p:sp>
      <p:sp>
        <p:nvSpPr>
          <p:cNvPr id="9" name="Text 7"/>
          <p:cNvSpPr/>
          <p:nvPr/>
        </p:nvSpPr>
        <p:spPr>
          <a:xfrm>
            <a:off x="6498336" y="1950720"/>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IFRS 9 requires forward-looking credit loss estimates. An EWS score maps directly to Stage 1/2/3 staging.</a:t>
            </a:r>
            <a:endParaRPr lang="en-US" sz="1600" dirty="0"/>
          </a:p>
        </p:txBody>
      </p:sp>
      <p:sp>
        <p:nvSpPr>
          <p:cNvPr id="10" name="Shape 8"/>
          <p:cNvSpPr/>
          <p:nvPr/>
        </p:nvSpPr>
        <p:spPr>
          <a:xfrm>
            <a:off x="548640" y="377952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1" name="Text 9"/>
          <p:cNvSpPr/>
          <p:nvPr/>
        </p:nvSpPr>
        <p:spPr>
          <a:xfrm>
            <a:off x="768096" y="396240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RM Prioritisation</a:t>
            </a:r>
            <a:endParaRPr lang="en-US" sz="1733" dirty="0"/>
          </a:p>
        </p:txBody>
      </p:sp>
      <p:sp>
        <p:nvSpPr>
          <p:cNvPr id="12" name="Text 10"/>
          <p:cNvSpPr/>
          <p:nvPr/>
        </p:nvSpPr>
        <p:spPr>
          <a:xfrm>
            <a:off x="768096" y="4511040"/>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Relationship managers get a ranked list of who to call — not 500 loans to review manually.</a:t>
            </a:r>
            <a:endParaRPr lang="en-US" sz="1600" dirty="0"/>
          </a:p>
        </p:txBody>
      </p:sp>
      <p:sp>
        <p:nvSpPr>
          <p:cNvPr id="13" name="Shape 11"/>
          <p:cNvSpPr/>
          <p:nvPr/>
        </p:nvSpPr>
        <p:spPr>
          <a:xfrm>
            <a:off x="6278880" y="3779520"/>
            <a:ext cx="5303520" cy="2255520"/>
          </a:xfrm>
          <a:prstGeom prst="roundRect">
            <a:avLst>
              <a:gd name="adj" fmla="val 4324"/>
            </a:avLst>
          </a:prstGeom>
          <a:solidFill>
            <a:srgbClr val="FFFFFF"/>
          </a:solidFill>
          <a:ln w="12700">
            <a:solidFill>
              <a:srgbClr val="D0E8EC"/>
            </a:solidFill>
            <a:prstDash val="solid"/>
          </a:ln>
          <a:effectLst>
            <a:outerShdw blurRad="76200" dist="25400" dir="2700000" algn="bl" rotWithShape="0">
              <a:srgbClr val="000000">
                <a:alpha val="12000"/>
              </a:srgbClr>
            </a:outerShdw>
          </a:effectLst>
        </p:spPr>
      </p:sp>
      <p:sp>
        <p:nvSpPr>
          <p:cNvPr id="14" name="Text 12"/>
          <p:cNvSpPr/>
          <p:nvPr/>
        </p:nvSpPr>
        <p:spPr>
          <a:xfrm>
            <a:off x="6498336" y="3962400"/>
            <a:ext cx="4754880" cy="463296"/>
          </a:xfrm>
          <a:prstGeom prst="rect">
            <a:avLst/>
          </a:prstGeom>
          <a:noFill/>
          <a:ln/>
        </p:spPr>
        <p:txBody>
          <a:bodyPr wrap="square" lIns="0" tIns="0" rIns="0" bIns="0" rtlCol="0" anchor="ctr"/>
          <a:lstStyle/>
          <a:p>
            <a:r>
              <a:rPr lang="en-US" sz="1733" b="1" dirty="0">
                <a:solidFill>
                  <a:srgbClr val="0D1F3C"/>
                </a:solidFill>
                <a:latin typeface="Cambria" pitchFamily="34" charset="0"/>
                <a:ea typeface="Cambria" pitchFamily="34" charset="-122"/>
                <a:cs typeface="Cambria" pitchFamily="34" charset="-120"/>
              </a:rPr>
              <a:t>📈  Portfolio Intelligence</a:t>
            </a:r>
            <a:endParaRPr lang="en-US" sz="1733" dirty="0"/>
          </a:p>
        </p:txBody>
      </p:sp>
      <p:sp>
        <p:nvSpPr>
          <p:cNvPr id="15" name="Text 13"/>
          <p:cNvSpPr/>
          <p:nvPr/>
        </p:nvSpPr>
        <p:spPr>
          <a:xfrm>
            <a:off x="6498336" y="4511040"/>
            <a:ext cx="4754880" cy="1341120"/>
          </a:xfrm>
          <a:prstGeom prst="rect">
            <a:avLst/>
          </a:prstGeom>
          <a:noFill/>
          <a:ln/>
        </p:spPr>
        <p:txBody>
          <a:bodyPr wrap="square" lIns="0" tIns="0" rIns="0" bIns="0" rtlCol="0" anchor="ctr"/>
          <a:lstStyle/>
          <a:p>
            <a:r>
              <a:rPr lang="en-US" sz="1600" dirty="0">
                <a:solidFill>
                  <a:srgbClr val="4A6478"/>
                </a:solidFill>
                <a:latin typeface="Calibri" pitchFamily="34" charset="0"/>
                <a:ea typeface="Calibri" pitchFamily="34" charset="-122"/>
                <a:cs typeface="Calibri" pitchFamily="34" charset="-120"/>
              </a:rPr>
              <a:t>Management gets a real-time view of concentration risk, stress by branch and sector, and total exposure at risk.</a:t>
            </a:r>
            <a:endParaRPr lang="en-US" sz="1600" dirty="0"/>
          </a:p>
        </p:txBody>
      </p:sp>
      <p:sp>
        <p:nvSpPr>
          <p:cNvPr id="16" name="Text 6">
            <a:extLst>
              <a:ext uri="{FF2B5EF4-FFF2-40B4-BE49-F238E27FC236}">
                <a16:creationId xmlns:a16="http://schemas.microsoft.com/office/drawing/2014/main" id="{D6A2F39A-C501-FCD4-6044-3BE725FB326B}"/>
              </a:ext>
            </a:extLst>
          </p:cNvPr>
          <p:cNvSpPr/>
          <p:nvPr/>
        </p:nvSpPr>
        <p:spPr>
          <a:xfrm>
            <a:off x="586380" y="6365968"/>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609600" y="341376"/>
            <a:ext cx="10972800" cy="731520"/>
          </a:xfrm>
          <a:prstGeom prst="rect">
            <a:avLst/>
          </a:prstGeom>
          <a:noFill/>
          <a:ln/>
        </p:spPr>
        <p:txBody>
          <a:bodyPr wrap="square" lIns="0" tIns="0" rIns="0" bIns="0" rtlCol="0" anchor="ctr"/>
          <a:lstStyle/>
          <a:p>
            <a:r>
              <a:rPr lang="en-US" sz="4267" b="1" dirty="0">
                <a:solidFill>
                  <a:srgbClr val="FFFFFF"/>
                </a:solidFill>
                <a:latin typeface="Cambria" pitchFamily="34" charset="0"/>
                <a:ea typeface="Cambria" pitchFamily="34" charset="-122"/>
                <a:cs typeface="Cambria" pitchFamily="34" charset="-120"/>
              </a:rPr>
              <a:t>Future Developments</a:t>
            </a:r>
            <a:endParaRPr lang="en-US" sz="4267" dirty="0"/>
          </a:p>
        </p:txBody>
      </p:sp>
      <p:sp>
        <p:nvSpPr>
          <p:cNvPr id="4" name="Shape 2"/>
          <p:cNvSpPr/>
          <p:nvPr/>
        </p:nvSpPr>
        <p:spPr>
          <a:xfrm>
            <a:off x="548640" y="1402080"/>
            <a:ext cx="5303520" cy="2255520"/>
          </a:xfrm>
          <a:prstGeom prst="roundRect">
            <a:avLst>
              <a:gd name="adj" fmla="val 5405"/>
            </a:avLst>
          </a:prstGeom>
          <a:solidFill>
            <a:srgbClr val="0E2233"/>
          </a:solidFill>
          <a:ln/>
          <a:effectLst>
            <a:outerShdw blurRad="76200" dist="25400" dir="2700000" algn="bl" rotWithShape="0">
              <a:srgbClr val="000000">
                <a:alpha val="12000"/>
              </a:srgbClr>
            </a:outerShdw>
          </a:effectLst>
        </p:spPr>
      </p:sp>
      <p:sp>
        <p:nvSpPr>
          <p:cNvPr id="5" name="Text 3"/>
          <p:cNvSpPr/>
          <p:nvPr/>
        </p:nvSpPr>
        <p:spPr>
          <a:xfrm>
            <a:off x="731520" y="1548384"/>
            <a:ext cx="609600" cy="487680"/>
          </a:xfrm>
          <a:prstGeom prst="rect">
            <a:avLst/>
          </a:prstGeom>
          <a:noFill/>
          <a:ln/>
        </p:spPr>
        <p:txBody>
          <a:bodyPr wrap="square" lIns="0" tIns="0" rIns="0" bIns="0" rtlCol="0" anchor="ctr"/>
          <a:lstStyle/>
          <a:p>
            <a:r>
              <a:rPr lang="en-US" sz="2133" b="1" dirty="0">
                <a:solidFill>
                  <a:srgbClr val="0A7E8C"/>
                </a:solidFill>
                <a:latin typeface="Cambria" pitchFamily="34" charset="0"/>
                <a:ea typeface="Cambria" pitchFamily="34" charset="-122"/>
                <a:cs typeface="Cambria" pitchFamily="34" charset="-120"/>
              </a:rPr>
              <a:t>01</a:t>
            </a:r>
            <a:endParaRPr lang="en-US" sz="2133" dirty="0"/>
          </a:p>
        </p:txBody>
      </p:sp>
      <p:sp>
        <p:nvSpPr>
          <p:cNvPr id="6" name="Text 4"/>
          <p:cNvSpPr/>
          <p:nvPr/>
        </p:nvSpPr>
        <p:spPr>
          <a:xfrm>
            <a:off x="1402080" y="1548384"/>
            <a:ext cx="4267200" cy="463296"/>
          </a:xfrm>
          <a:prstGeom prst="rect">
            <a:avLst/>
          </a:prstGeom>
          <a:noFill/>
          <a:ln/>
        </p:spPr>
        <p:txBody>
          <a:bodyPr wrap="square" lIns="0" tIns="0" rIns="0" bIns="0" rtlCol="0" anchor="ctr"/>
          <a:lstStyle/>
          <a:p>
            <a:r>
              <a:rPr lang="en-US" sz="1733" b="1" dirty="0">
                <a:solidFill>
                  <a:srgbClr val="FFFFFF"/>
                </a:solidFill>
                <a:latin typeface="Cambria" pitchFamily="34" charset="0"/>
                <a:ea typeface="Cambria" pitchFamily="34" charset="-122"/>
                <a:cs typeface="Cambria" pitchFamily="34" charset="-120"/>
              </a:rPr>
              <a:t>Real Data Integration</a:t>
            </a:r>
            <a:endParaRPr lang="en-US" sz="1733" dirty="0"/>
          </a:p>
        </p:txBody>
      </p:sp>
      <p:sp>
        <p:nvSpPr>
          <p:cNvPr id="7" name="Text 5"/>
          <p:cNvSpPr/>
          <p:nvPr/>
        </p:nvSpPr>
        <p:spPr>
          <a:xfrm>
            <a:off x="731520" y="2194560"/>
            <a:ext cx="4876800" cy="1280160"/>
          </a:xfrm>
          <a:prstGeom prst="rect">
            <a:avLst/>
          </a:prstGeom>
          <a:noFill/>
          <a:ln/>
        </p:spPr>
        <p:txBody>
          <a:bodyPr wrap="square" lIns="0" tIns="0" rIns="0" bIns="0" rtlCol="0" anchor="ctr"/>
          <a:lstStyle/>
          <a:p>
            <a:r>
              <a:rPr lang="en-US" sz="1600" dirty="0">
                <a:solidFill>
                  <a:srgbClr val="8FA8BA"/>
                </a:solidFill>
                <a:latin typeface="Calibri" pitchFamily="34" charset="0"/>
                <a:ea typeface="Calibri" pitchFamily="34" charset="-122"/>
                <a:cs typeface="Calibri" pitchFamily="34" charset="-120"/>
              </a:rPr>
              <a:t>Connect to core banking system. Remove synthetic data. Re-validate model on live portfolio.</a:t>
            </a:r>
            <a:endParaRPr lang="en-US" sz="1600" dirty="0"/>
          </a:p>
        </p:txBody>
      </p:sp>
      <p:sp>
        <p:nvSpPr>
          <p:cNvPr id="8" name="Shape 6"/>
          <p:cNvSpPr/>
          <p:nvPr/>
        </p:nvSpPr>
        <p:spPr>
          <a:xfrm>
            <a:off x="6156960" y="1335024"/>
            <a:ext cx="5303520" cy="2255520"/>
          </a:xfrm>
          <a:prstGeom prst="roundRect">
            <a:avLst>
              <a:gd name="adj" fmla="val 5405"/>
            </a:avLst>
          </a:prstGeom>
          <a:solidFill>
            <a:srgbClr val="0E2233"/>
          </a:solidFill>
          <a:ln/>
          <a:effectLst>
            <a:outerShdw blurRad="76200" dist="25400" dir="2700000" algn="bl" rotWithShape="0">
              <a:srgbClr val="000000">
                <a:alpha val="12000"/>
              </a:srgbClr>
            </a:outerShdw>
          </a:effectLst>
        </p:spPr>
      </p:sp>
      <p:sp>
        <p:nvSpPr>
          <p:cNvPr id="9" name="Text 7"/>
          <p:cNvSpPr/>
          <p:nvPr/>
        </p:nvSpPr>
        <p:spPr>
          <a:xfrm>
            <a:off x="6461760" y="1548384"/>
            <a:ext cx="609600" cy="487680"/>
          </a:xfrm>
          <a:prstGeom prst="rect">
            <a:avLst/>
          </a:prstGeom>
          <a:noFill/>
          <a:ln/>
        </p:spPr>
        <p:txBody>
          <a:bodyPr wrap="square" lIns="0" tIns="0" rIns="0" bIns="0" rtlCol="0" anchor="ctr"/>
          <a:lstStyle/>
          <a:p>
            <a:r>
              <a:rPr lang="en-US" sz="2133" b="1" dirty="0">
                <a:solidFill>
                  <a:srgbClr val="0A7E8C"/>
                </a:solidFill>
                <a:latin typeface="Cambria" pitchFamily="34" charset="0"/>
                <a:ea typeface="Cambria" pitchFamily="34" charset="-122"/>
                <a:cs typeface="Cambria" pitchFamily="34" charset="-120"/>
              </a:rPr>
              <a:t>02</a:t>
            </a:r>
            <a:endParaRPr lang="en-US" sz="2133" dirty="0"/>
          </a:p>
        </p:txBody>
      </p:sp>
      <p:sp>
        <p:nvSpPr>
          <p:cNvPr id="10" name="Text 8"/>
          <p:cNvSpPr/>
          <p:nvPr/>
        </p:nvSpPr>
        <p:spPr>
          <a:xfrm>
            <a:off x="7132320" y="1548384"/>
            <a:ext cx="4267200" cy="463296"/>
          </a:xfrm>
          <a:prstGeom prst="rect">
            <a:avLst/>
          </a:prstGeom>
          <a:noFill/>
          <a:ln/>
        </p:spPr>
        <p:txBody>
          <a:bodyPr wrap="square" lIns="0" tIns="0" rIns="0" bIns="0" rtlCol="0" anchor="ctr"/>
          <a:lstStyle/>
          <a:p>
            <a:r>
              <a:rPr lang="en-US" sz="1733" b="1" dirty="0">
                <a:solidFill>
                  <a:srgbClr val="FFFFFF"/>
                </a:solidFill>
                <a:latin typeface="Cambria" pitchFamily="34" charset="0"/>
                <a:ea typeface="Cambria" pitchFamily="34" charset="-122"/>
                <a:cs typeface="Cambria" pitchFamily="34" charset="-120"/>
              </a:rPr>
              <a:t>API </a:t>
            </a:r>
            <a:r>
              <a:rPr lang="en-ZW" sz="1733" b="1" dirty="0">
                <a:solidFill>
                  <a:srgbClr val="FFFFFF"/>
                </a:solidFill>
                <a:latin typeface="Cambria" pitchFamily="34" charset="0"/>
                <a:ea typeface="Cambria" pitchFamily="34" charset="-122"/>
              </a:rPr>
              <a:t>Deployment</a:t>
            </a:r>
            <a:endParaRPr lang="en-US" sz="1733" b="1" dirty="0">
              <a:solidFill>
                <a:srgbClr val="FFFFFF"/>
              </a:solidFill>
              <a:latin typeface="Cambria" pitchFamily="34" charset="0"/>
              <a:ea typeface="Cambria" pitchFamily="34" charset="-122"/>
            </a:endParaRPr>
          </a:p>
        </p:txBody>
      </p:sp>
      <p:sp>
        <p:nvSpPr>
          <p:cNvPr id="11" name="Text 9"/>
          <p:cNvSpPr/>
          <p:nvPr/>
        </p:nvSpPr>
        <p:spPr>
          <a:xfrm>
            <a:off x="6461760" y="2194560"/>
            <a:ext cx="4876800" cy="1280160"/>
          </a:xfrm>
          <a:prstGeom prst="rect">
            <a:avLst/>
          </a:prstGeom>
          <a:noFill/>
          <a:ln/>
        </p:spPr>
        <p:txBody>
          <a:bodyPr wrap="square" lIns="0" tIns="0" rIns="0" bIns="0" rtlCol="0" anchor="ctr"/>
          <a:lstStyle/>
          <a:p>
            <a:r>
              <a:rPr lang="en-US" sz="1600" b="0" i="0" dirty="0">
                <a:solidFill>
                  <a:srgbClr val="3D3D3A"/>
                </a:solidFill>
                <a:effectLst/>
                <a:latin typeface="Anthropic Sans"/>
              </a:rPr>
              <a:t> </a:t>
            </a:r>
            <a:r>
              <a:rPr lang="en-US" sz="1600" b="0" i="0" dirty="0">
                <a:solidFill>
                  <a:srgbClr val="8FA8BA"/>
                </a:solidFill>
                <a:effectLst/>
                <a:latin typeface="Calibri" pitchFamily="34" charset="0"/>
                <a:cs typeface="Calibri" pitchFamily="34" charset="-120"/>
              </a:rPr>
              <a:t>Deploy</a:t>
            </a:r>
            <a:r>
              <a:rPr lang="en-US" sz="1600" dirty="0">
                <a:solidFill>
                  <a:srgbClr val="8FA8BA"/>
                </a:solidFill>
                <a:latin typeface="Calibri" pitchFamily="34" charset="0"/>
                <a:cs typeface="Calibri" pitchFamily="34" charset="-120"/>
              </a:rPr>
              <a:t> the model as a REST API for integration with core banking systems.</a:t>
            </a:r>
          </a:p>
        </p:txBody>
      </p:sp>
      <p:sp>
        <p:nvSpPr>
          <p:cNvPr id="12" name="Shape 10"/>
          <p:cNvSpPr/>
          <p:nvPr/>
        </p:nvSpPr>
        <p:spPr>
          <a:xfrm>
            <a:off x="548640" y="3962400"/>
            <a:ext cx="5303520" cy="2255520"/>
          </a:xfrm>
          <a:prstGeom prst="roundRect">
            <a:avLst>
              <a:gd name="adj" fmla="val 5405"/>
            </a:avLst>
          </a:prstGeom>
          <a:solidFill>
            <a:srgbClr val="0E2233"/>
          </a:solidFill>
          <a:ln/>
          <a:effectLst>
            <a:outerShdw blurRad="76200" dist="25400" dir="2700000" algn="bl" rotWithShape="0">
              <a:srgbClr val="000000">
                <a:alpha val="12000"/>
              </a:srgbClr>
            </a:outerShdw>
          </a:effectLst>
        </p:spPr>
      </p:sp>
      <p:sp>
        <p:nvSpPr>
          <p:cNvPr id="13" name="Text 11"/>
          <p:cNvSpPr/>
          <p:nvPr/>
        </p:nvSpPr>
        <p:spPr>
          <a:xfrm>
            <a:off x="731520" y="4108704"/>
            <a:ext cx="609600" cy="487680"/>
          </a:xfrm>
          <a:prstGeom prst="rect">
            <a:avLst/>
          </a:prstGeom>
          <a:noFill/>
          <a:ln/>
        </p:spPr>
        <p:txBody>
          <a:bodyPr wrap="square" lIns="0" tIns="0" rIns="0" bIns="0" rtlCol="0" anchor="ctr"/>
          <a:lstStyle/>
          <a:p>
            <a:r>
              <a:rPr lang="en-US" sz="2133" b="1" dirty="0">
                <a:solidFill>
                  <a:srgbClr val="0A7E8C"/>
                </a:solidFill>
                <a:latin typeface="Cambria" pitchFamily="34" charset="0"/>
                <a:ea typeface="Cambria" pitchFamily="34" charset="-122"/>
                <a:cs typeface="Cambria" pitchFamily="34" charset="-120"/>
              </a:rPr>
              <a:t>03</a:t>
            </a:r>
            <a:endParaRPr lang="en-US" sz="2133" dirty="0"/>
          </a:p>
        </p:txBody>
      </p:sp>
      <p:sp>
        <p:nvSpPr>
          <p:cNvPr id="14" name="Text 12"/>
          <p:cNvSpPr/>
          <p:nvPr/>
        </p:nvSpPr>
        <p:spPr>
          <a:xfrm>
            <a:off x="1402080" y="4108704"/>
            <a:ext cx="4267200" cy="463296"/>
          </a:xfrm>
          <a:prstGeom prst="rect">
            <a:avLst/>
          </a:prstGeom>
          <a:noFill/>
          <a:ln/>
        </p:spPr>
        <p:txBody>
          <a:bodyPr wrap="square" lIns="0" tIns="0" rIns="0" bIns="0" rtlCol="0" anchor="ctr"/>
          <a:lstStyle/>
          <a:p>
            <a:r>
              <a:rPr lang="en-US" sz="1733" b="1" dirty="0">
                <a:solidFill>
                  <a:srgbClr val="FFFFFF"/>
                </a:solidFill>
                <a:latin typeface="Cambria" pitchFamily="34" charset="0"/>
                <a:ea typeface="Cambria" pitchFamily="34" charset="-122"/>
                <a:cs typeface="Cambria" pitchFamily="34" charset="-120"/>
              </a:rPr>
              <a:t>Time-Series Monitoring</a:t>
            </a:r>
            <a:endParaRPr lang="en-US" sz="1733" dirty="0"/>
          </a:p>
        </p:txBody>
      </p:sp>
      <p:sp>
        <p:nvSpPr>
          <p:cNvPr id="15" name="Text 13"/>
          <p:cNvSpPr/>
          <p:nvPr/>
        </p:nvSpPr>
        <p:spPr>
          <a:xfrm>
            <a:off x="731520" y="4754880"/>
            <a:ext cx="4876800" cy="1280160"/>
          </a:xfrm>
          <a:prstGeom prst="rect">
            <a:avLst/>
          </a:prstGeom>
          <a:noFill/>
          <a:ln/>
        </p:spPr>
        <p:txBody>
          <a:bodyPr wrap="square" lIns="0" tIns="0" rIns="0" bIns="0" rtlCol="0" anchor="ctr"/>
          <a:lstStyle/>
          <a:p>
            <a:r>
              <a:rPr lang="en-US" sz="1600" dirty="0">
                <a:solidFill>
                  <a:srgbClr val="8FA8BA"/>
                </a:solidFill>
                <a:latin typeface="Calibri" pitchFamily="34" charset="0"/>
                <a:ea typeface="Calibri" pitchFamily="34" charset="-122"/>
                <a:cs typeface="Calibri" pitchFamily="34" charset="-120"/>
              </a:rPr>
              <a:t>Track borrower risk score month-over-month. Flag when score moves from Green to Amber.</a:t>
            </a:r>
            <a:endParaRPr lang="en-US" sz="1600" dirty="0"/>
          </a:p>
        </p:txBody>
      </p:sp>
      <p:sp>
        <p:nvSpPr>
          <p:cNvPr id="16" name="Shape 14"/>
          <p:cNvSpPr/>
          <p:nvPr/>
        </p:nvSpPr>
        <p:spPr>
          <a:xfrm>
            <a:off x="6278880" y="3962400"/>
            <a:ext cx="5303520" cy="2255520"/>
          </a:xfrm>
          <a:prstGeom prst="roundRect">
            <a:avLst>
              <a:gd name="adj" fmla="val 5405"/>
            </a:avLst>
          </a:prstGeom>
          <a:solidFill>
            <a:srgbClr val="0E2233"/>
          </a:solidFill>
          <a:ln/>
          <a:effectLst>
            <a:outerShdw blurRad="76200" dist="25400" dir="2700000" algn="bl" rotWithShape="0">
              <a:srgbClr val="000000">
                <a:alpha val="12000"/>
              </a:srgbClr>
            </a:outerShdw>
          </a:effectLst>
        </p:spPr>
      </p:sp>
      <p:sp>
        <p:nvSpPr>
          <p:cNvPr id="17" name="Text 15"/>
          <p:cNvSpPr/>
          <p:nvPr/>
        </p:nvSpPr>
        <p:spPr>
          <a:xfrm>
            <a:off x="6461760" y="4108704"/>
            <a:ext cx="609600" cy="487680"/>
          </a:xfrm>
          <a:prstGeom prst="rect">
            <a:avLst/>
          </a:prstGeom>
          <a:noFill/>
          <a:ln/>
        </p:spPr>
        <p:txBody>
          <a:bodyPr wrap="square" lIns="0" tIns="0" rIns="0" bIns="0" rtlCol="0" anchor="ctr"/>
          <a:lstStyle/>
          <a:p>
            <a:r>
              <a:rPr lang="en-US" sz="2133" b="1" dirty="0">
                <a:solidFill>
                  <a:srgbClr val="0A7E8C"/>
                </a:solidFill>
                <a:latin typeface="Cambria" pitchFamily="34" charset="0"/>
                <a:ea typeface="Cambria" pitchFamily="34" charset="-122"/>
                <a:cs typeface="Cambria" pitchFamily="34" charset="-120"/>
              </a:rPr>
              <a:t>04</a:t>
            </a:r>
            <a:endParaRPr lang="en-US" sz="2133" dirty="0"/>
          </a:p>
        </p:txBody>
      </p:sp>
      <p:sp>
        <p:nvSpPr>
          <p:cNvPr id="18" name="Text 16"/>
          <p:cNvSpPr/>
          <p:nvPr/>
        </p:nvSpPr>
        <p:spPr>
          <a:xfrm>
            <a:off x="7132320" y="4108704"/>
            <a:ext cx="4267200" cy="463296"/>
          </a:xfrm>
          <a:prstGeom prst="rect">
            <a:avLst/>
          </a:prstGeom>
          <a:noFill/>
          <a:ln/>
        </p:spPr>
        <p:txBody>
          <a:bodyPr wrap="square" lIns="0" tIns="0" rIns="0" bIns="0" rtlCol="0" anchor="ctr"/>
          <a:lstStyle/>
          <a:p>
            <a:r>
              <a:rPr lang="en-US" sz="1733" b="1" dirty="0">
                <a:solidFill>
                  <a:srgbClr val="FFFFFF"/>
                </a:solidFill>
                <a:latin typeface="Cambria" pitchFamily="34" charset="0"/>
                <a:ea typeface="Cambria" pitchFamily="34" charset="-122"/>
                <a:cs typeface="Cambria" pitchFamily="34" charset="-120"/>
              </a:rPr>
              <a:t>Automated Alerts</a:t>
            </a:r>
            <a:endParaRPr lang="en-US" sz="1733" dirty="0"/>
          </a:p>
        </p:txBody>
      </p:sp>
      <p:sp>
        <p:nvSpPr>
          <p:cNvPr id="19" name="Text 17"/>
          <p:cNvSpPr/>
          <p:nvPr/>
        </p:nvSpPr>
        <p:spPr>
          <a:xfrm>
            <a:off x="6461760" y="4754880"/>
            <a:ext cx="4876800" cy="1280160"/>
          </a:xfrm>
          <a:prstGeom prst="rect">
            <a:avLst/>
          </a:prstGeom>
          <a:noFill/>
          <a:ln/>
        </p:spPr>
        <p:txBody>
          <a:bodyPr wrap="square" lIns="0" tIns="0" rIns="0" bIns="0" rtlCol="0" anchor="ctr"/>
          <a:lstStyle/>
          <a:p>
            <a:r>
              <a:rPr lang="en-US" sz="1600" dirty="0">
                <a:solidFill>
                  <a:srgbClr val="8FA8BA"/>
                </a:solidFill>
                <a:latin typeface="Calibri" pitchFamily="34" charset="0"/>
                <a:ea typeface="Calibri" pitchFamily="34" charset="-122"/>
                <a:cs typeface="Calibri" pitchFamily="34" charset="-120"/>
              </a:rPr>
              <a:t>Push Red alerts to relationship managers via dashboard or email. Close the intervention loop.</a:t>
            </a:r>
            <a:endParaRPr lang="en-US" sz="1600" dirty="0"/>
          </a:p>
        </p:txBody>
      </p:sp>
      <p:sp>
        <p:nvSpPr>
          <p:cNvPr id="20" name="Text 6">
            <a:extLst>
              <a:ext uri="{FF2B5EF4-FFF2-40B4-BE49-F238E27FC236}">
                <a16:creationId xmlns:a16="http://schemas.microsoft.com/office/drawing/2014/main" id="{BBFAAE04-0FBE-ED2C-BF29-FEDB3268D181}"/>
              </a:ext>
            </a:extLst>
          </p:cNvPr>
          <p:cNvSpPr/>
          <p:nvPr/>
        </p:nvSpPr>
        <p:spPr>
          <a:xfrm>
            <a:off x="634760" y="6201469"/>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B28D991E-A3D1-85F4-13CC-9F1AB65F2A72}"/>
              </a:ext>
            </a:extLst>
          </p:cNvPr>
          <p:cNvSpPr/>
          <p:nvPr/>
        </p:nvSpPr>
        <p:spPr>
          <a:xfrm>
            <a:off x="0" y="0"/>
            <a:ext cx="12192000" cy="146304"/>
          </a:xfrm>
          <a:prstGeom prst="rect">
            <a:avLst/>
          </a:prstGeom>
          <a:solidFill>
            <a:srgbClr val="0A7E8C"/>
          </a:solidFill>
          <a:ln w="12700">
            <a:solidFill>
              <a:srgbClr val="0A7E8C"/>
            </a:solidFill>
            <a:prstDash val="solid"/>
          </a:ln>
        </p:spPr>
      </p:sp>
      <p:sp>
        <p:nvSpPr>
          <p:cNvPr id="24" name="TextBox 23">
            <a:extLst>
              <a:ext uri="{FF2B5EF4-FFF2-40B4-BE49-F238E27FC236}">
                <a16:creationId xmlns:a16="http://schemas.microsoft.com/office/drawing/2014/main" id="{7BD2B62E-7BF1-EF04-2495-0ABBA73CD89D}"/>
              </a:ext>
            </a:extLst>
          </p:cNvPr>
          <p:cNvSpPr txBox="1"/>
          <p:nvPr/>
        </p:nvSpPr>
        <p:spPr>
          <a:xfrm>
            <a:off x="609600" y="2831242"/>
            <a:ext cx="10921465" cy="2062103"/>
          </a:xfrm>
          <a:prstGeom prst="rect">
            <a:avLst/>
          </a:prstGeom>
          <a:noFill/>
        </p:spPr>
        <p:txBody>
          <a:bodyPr wrap="square">
            <a:spAutoFit/>
          </a:bodyPr>
          <a:lstStyle/>
          <a:p>
            <a:r>
              <a:rPr lang="en-US" sz="3200" b="1" dirty="0">
                <a:solidFill>
                  <a:srgbClr val="FFFFFF"/>
                </a:solidFill>
                <a:latin typeface="Cambria" pitchFamily="34" charset="0"/>
                <a:ea typeface="Cambria" pitchFamily="34" charset="-122"/>
              </a:rPr>
              <a:t>Banks don't lose money overnight. Borrowers deteriorate gradually, and those warning signs are visible long before default. The challenge isn't finding the signals, it's acting on them early enough</a:t>
            </a:r>
            <a:endParaRPr lang="en-ZW" sz="3200" b="1" dirty="0">
              <a:solidFill>
                <a:srgbClr val="FFFFFF"/>
              </a:solidFill>
              <a:latin typeface="Cambria" pitchFamily="34" charset="0"/>
              <a:ea typeface="Cambria" pitchFamily="34" charset="-122"/>
            </a:endParaRPr>
          </a:p>
        </p:txBody>
      </p:sp>
    </p:spTree>
    <p:extLst>
      <p:ext uri="{BB962C8B-B14F-4D97-AF65-F5344CB8AC3E}">
        <p14:creationId xmlns:p14="http://schemas.microsoft.com/office/powerpoint/2010/main" val="2424119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B28D991E-A3D1-85F4-13CC-9F1AB65F2A72}"/>
              </a:ext>
            </a:extLst>
          </p:cNvPr>
          <p:cNvSpPr/>
          <p:nvPr/>
        </p:nvSpPr>
        <p:spPr>
          <a:xfrm>
            <a:off x="0" y="0"/>
            <a:ext cx="12192000" cy="146304"/>
          </a:xfrm>
          <a:prstGeom prst="rect">
            <a:avLst/>
          </a:prstGeom>
          <a:solidFill>
            <a:srgbClr val="0A7E8C"/>
          </a:solidFill>
          <a:ln w="12700">
            <a:solidFill>
              <a:srgbClr val="0A7E8C"/>
            </a:solidFill>
            <a:prstDash val="solid"/>
          </a:ln>
        </p:spPr>
      </p:sp>
      <p:sp>
        <p:nvSpPr>
          <p:cNvPr id="8" name="Shape TopBar">
            <a:extLst>
              <a:ext uri="{FF2B5EF4-FFF2-40B4-BE49-F238E27FC236}">
                <a16:creationId xmlns:a16="http://schemas.microsoft.com/office/drawing/2014/main" id="{DD37A8C8-488A-016D-2A0F-7F4C4BEB8A83}"/>
              </a:ext>
            </a:extLst>
          </p:cNvPr>
          <p:cNvSpPr/>
          <p:nvPr/>
        </p:nvSpPr>
        <p:spPr>
          <a:xfrm>
            <a:off x="0" y="0"/>
            <a:ext cx="12192000" cy="146304"/>
          </a:xfrm>
          <a:prstGeom prst="rect">
            <a:avLst/>
          </a:prstGeom>
          <a:solidFill>
            <a:srgbClr val="0A7E8C"/>
          </a:solidFill>
          <a:ln w="12700">
            <a:solidFill>
              <a:srgbClr val="0A7E8C"/>
            </a:solidFill>
            <a:prstDash val="solid"/>
          </a:ln>
        </p:spPr>
      </p:sp>
      <p:sp>
        <p:nvSpPr>
          <p:cNvPr id="9" name="Text Title">
            <a:extLst>
              <a:ext uri="{FF2B5EF4-FFF2-40B4-BE49-F238E27FC236}">
                <a16:creationId xmlns:a16="http://schemas.microsoft.com/office/drawing/2014/main" id="{E92638E0-EE2A-1FC3-6303-1556D29D174C}"/>
              </a:ext>
            </a:extLst>
          </p:cNvPr>
          <p:cNvSpPr/>
          <p:nvPr/>
        </p:nvSpPr>
        <p:spPr>
          <a:xfrm>
            <a:off x="609600" y="280000"/>
            <a:ext cx="10972800" cy="700000"/>
          </a:xfrm>
          <a:prstGeom prst="rect">
            <a:avLst/>
          </a:prstGeom>
          <a:noFill/>
          <a:ln/>
        </p:spPr>
        <p:txBody>
          <a:bodyPr wrap="square" lIns="0" tIns="0" rIns="0" bIns="0" rtlCol="0" anchor="ctr"/>
          <a:lstStyle/>
          <a:p>
            <a:r>
              <a:rPr lang="en-US" sz="4267" b="1" dirty="0">
                <a:latin typeface="Cambria" pitchFamily="34" charset="0"/>
              </a:rPr>
              <a:t>About</a:t>
            </a:r>
          </a:p>
        </p:txBody>
      </p:sp>
      <p:pic>
        <p:nvPicPr>
          <p:cNvPr id="5" name="Picture 4">
            <a:extLst>
              <a:ext uri="{FF2B5EF4-FFF2-40B4-BE49-F238E27FC236}">
                <a16:creationId xmlns:a16="http://schemas.microsoft.com/office/drawing/2014/main" id="{EDF3054D-B5F6-7C21-6355-064D02BBE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14" y="1113696"/>
            <a:ext cx="3427126" cy="37098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Shape DealBadge">
            <a:extLst>
              <a:ext uri="{FF2B5EF4-FFF2-40B4-BE49-F238E27FC236}">
                <a16:creationId xmlns:a16="http://schemas.microsoft.com/office/drawing/2014/main" id="{16DD5A02-4AC5-87FC-D71E-AAABA6DA011F}"/>
              </a:ext>
            </a:extLst>
          </p:cNvPr>
          <p:cNvSpPr/>
          <p:nvPr/>
        </p:nvSpPr>
        <p:spPr>
          <a:xfrm>
            <a:off x="792480" y="5095835"/>
            <a:ext cx="2400000" cy="548640"/>
          </a:xfrm>
          <a:prstGeom prst="roundRect">
            <a:avLst>
              <a:gd name="adj" fmla="val 16667"/>
            </a:avLst>
          </a:prstGeom>
          <a:solidFill>
            <a:srgbClr val="0A7E8C"/>
          </a:solidFill>
          <a:ln>
            <a:noFill/>
          </a:ln>
        </p:spPr>
      </p:sp>
      <p:sp>
        <p:nvSpPr>
          <p:cNvPr id="13" name="Text DealBadge">
            <a:extLst>
              <a:ext uri="{FF2B5EF4-FFF2-40B4-BE49-F238E27FC236}">
                <a16:creationId xmlns:a16="http://schemas.microsoft.com/office/drawing/2014/main" id="{5DBEA0B8-A04D-6110-62B2-5C9F4BF0F091}"/>
              </a:ext>
            </a:extLst>
          </p:cNvPr>
          <p:cNvSpPr/>
          <p:nvPr/>
        </p:nvSpPr>
        <p:spPr>
          <a:xfrm>
            <a:off x="792480" y="5055680"/>
            <a:ext cx="2400000" cy="548640"/>
          </a:xfrm>
          <a:prstGeom prst="rect">
            <a:avLst/>
          </a:prstGeom>
          <a:noFill/>
          <a:ln/>
        </p:spPr>
        <p:txBody>
          <a:bodyPr wrap="square" lIns="91440" tIns="45720" rIns="91440" bIns="45720" rtlCol="0" anchor="ctr"/>
          <a:lstStyle/>
          <a:p>
            <a:pPr algn="ctr"/>
            <a:r>
              <a:rPr lang="en-US" sz="1600" b="1" dirty="0">
                <a:solidFill>
                  <a:srgbClr val="FFFFFF"/>
                </a:solidFill>
                <a:latin typeface="Calibri" pitchFamily="34" charset="0"/>
              </a:rPr>
              <a:t>DEAL Cohort 1 Graduate</a:t>
            </a:r>
          </a:p>
        </p:txBody>
      </p:sp>
      <p:sp>
        <p:nvSpPr>
          <p:cNvPr id="14" name="Shape RightCard">
            <a:extLst>
              <a:ext uri="{FF2B5EF4-FFF2-40B4-BE49-F238E27FC236}">
                <a16:creationId xmlns:a16="http://schemas.microsoft.com/office/drawing/2014/main" id="{D96A8C2D-8E21-4F40-F67B-BD9C4CE8800D}"/>
              </a:ext>
            </a:extLst>
          </p:cNvPr>
          <p:cNvSpPr/>
          <p:nvPr/>
        </p:nvSpPr>
        <p:spPr>
          <a:xfrm>
            <a:off x="4023120" y="1141360"/>
            <a:ext cx="7620480" cy="3954475"/>
          </a:xfrm>
          <a:prstGeom prst="roundRect">
            <a:avLst>
              <a:gd name="adj" fmla="val 4000"/>
            </a:avLst>
          </a:prstGeom>
          <a:solidFill>
            <a:srgbClr val="E8F8FA"/>
          </a:solidFill>
          <a:ln w="12700">
            <a:solidFill>
              <a:srgbClr val="D0E8EC"/>
            </a:solidFill>
            <a:prstDash val="solid"/>
          </a:ln>
          <a:effectLst>
            <a:outerShdw blurRad="76200" dist="25400" dir="2700000" algn="bl" rotWithShape="0">
              <a:srgbClr val="000000">
                <a:alpha val="12000"/>
              </a:srgbClr>
            </a:outerShdw>
          </a:effectLst>
        </p:spPr>
      </p:sp>
      <p:sp>
        <p:nvSpPr>
          <p:cNvPr id="15" name="Text Name">
            <a:extLst>
              <a:ext uri="{FF2B5EF4-FFF2-40B4-BE49-F238E27FC236}">
                <a16:creationId xmlns:a16="http://schemas.microsoft.com/office/drawing/2014/main" id="{989D7A04-5522-4437-10DA-52804028A5DB}"/>
              </a:ext>
            </a:extLst>
          </p:cNvPr>
          <p:cNvSpPr/>
          <p:nvPr/>
        </p:nvSpPr>
        <p:spPr>
          <a:xfrm>
            <a:off x="4267200" y="1280160"/>
            <a:ext cx="7132320" cy="600000"/>
          </a:xfrm>
          <a:prstGeom prst="rect">
            <a:avLst/>
          </a:prstGeom>
          <a:noFill/>
          <a:ln/>
        </p:spPr>
        <p:txBody>
          <a:bodyPr wrap="square" lIns="0" tIns="0" rIns="0" bIns="0" rtlCol="0" anchor="ctr"/>
          <a:lstStyle/>
          <a:p>
            <a:r>
              <a:rPr lang="en-US" sz="3200" b="1" dirty="0">
                <a:solidFill>
                  <a:srgbClr val="0A7E8C"/>
                </a:solidFill>
                <a:latin typeface="Cambria" pitchFamily="34" charset="0"/>
              </a:rPr>
              <a:t>Elma Fortunate Phiri</a:t>
            </a:r>
          </a:p>
        </p:txBody>
      </p:sp>
      <p:sp>
        <p:nvSpPr>
          <p:cNvPr id="16" name="Text Role">
            <a:extLst>
              <a:ext uri="{FF2B5EF4-FFF2-40B4-BE49-F238E27FC236}">
                <a16:creationId xmlns:a16="http://schemas.microsoft.com/office/drawing/2014/main" id="{2D4F3AF4-8279-4F01-87BB-20973CB5DA79}"/>
              </a:ext>
            </a:extLst>
          </p:cNvPr>
          <p:cNvSpPr/>
          <p:nvPr/>
        </p:nvSpPr>
        <p:spPr>
          <a:xfrm>
            <a:off x="4267200" y="1920000"/>
            <a:ext cx="7132320" cy="400000"/>
          </a:xfrm>
          <a:prstGeom prst="rect">
            <a:avLst/>
          </a:prstGeom>
          <a:noFill/>
          <a:ln/>
        </p:spPr>
        <p:txBody>
          <a:bodyPr wrap="square" lIns="0" tIns="0" rIns="0" bIns="0" rtlCol="0" anchor="ctr"/>
          <a:lstStyle/>
          <a:p>
            <a:r>
              <a:rPr lang="en-US" sz="1600" b="1" dirty="0">
                <a:solidFill>
                  <a:srgbClr val="4A6478"/>
                </a:solidFill>
                <a:latin typeface="Calibri" pitchFamily="34" charset="0"/>
              </a:rPr>
              <a:t>Data Scientist  |  Harare, Zimbabwe</a:t>
            </a:r>
          </a:p>
        </p:txBody>
      </p:sp>
      <p:sp>
        <p:nvSpPr>
          <p:cNvPr id="17" name="Shape Divider">
            <a:extLst>
              <a:ext uri="{FF2B5EF4-FFF2-40B4-BE49-F238E27FC236}">
                <a16:creationId xmlns:a16="http://schemas.microsoft.com/office/drawing/2014/main" id="{C9FDA3B1-A66D-9C19-D891-F5407523B5B1}"/>
              </a:ext>
            </a:extLst>
          </p:cNvPr>
          <p:cNvSpPr/>
          <p:nvPr/>
        </p:nvSpPr>
        <p:spPr>
          <a:xfrm>
            <a:off x="4267200" y="2400000"/>
            <a:ext cx="7132320" cy="38100"/>
          </a:xfrm>
          <a:prstGeom prst="rect">
            <a:avLst/>
          </a:prstGeom>
          <a:solidFill>
            <a:srgbClr val="0A7E8C"/>
          </a:solidFill>
          <a:ln>
            <a:noFill/>
          </a:ln>
        </p:spPr>
      </p:sp>
      <p:sp>
        <p:nvSpPr>
          <p:cNvPr id="18" name="Text Bio">
            <a:extLst>
              <a:ext uri="{FF2B5EF4-FFF2-40B4-BE49-F238E27FC236}">
                <a16:creationId xmlns:a16="http://schemas.microsoft.com/office/drawing/2014/main" id="{B763E6C2-3C27-260A-AA9B-E0B91A941CB6}"/>
              </a:ext>
            </a:extLst>
          </p:cNvPr>
          <p:cNvSpPr/>
          <p:nvPr/>
        </p:nvSpPr>
        <p:spPr>
          <a:xfrm>
            <a:off x="4267200" y="2530000"/>
            <a:ext cx="7132320" cy="2800000"/>
          </a:xfrm>
          <a:prstGeom prst="rect">
            <a:avLst/>
          </a:prstGeom>
          <a:noFill/>
          <a:ln/>
        </p:spPr>
        <p:txBody>
          <a:bodyPr wrap="square" lIns="0" tIns="0" rIns="0" bIns="0" rtlCol="0" anchor="t"/>
          <a:lstStyle/>
          <a:p>
            <a:pPr>
              <a:lnSpc>
                <a:spcPts val="2400"/>
              </a:lnSpc>
              <a:spcAft>
                <a:spcPts val="400"/>
              </a:spcAft>
            </a:pPr>
            <a:endParaRPr lang="en-US" sz="1467" dirty="0">
              <a:solidFill>
                <a:srgbClr val="2C3E50"/>
              </a:solidFill>
              <a:latin typeface="Calibri" pitchFamily="34" charset="0"/>
            </a:endParaRPr>
          </a:p>
        </p:txBody>
      </p:sp>
      <p:sp>
        <p:nvSpPr>
          <p:cNvPr id="19" name="Text Copyright">
            <a:extLst>
              <a:ext uri="{FF2B5EF4-FFF2-40B4-BE49-F238E27FC236}">
                <a16:creationId xmlns:a16="http://schemas.microsoft.com/office/drawing/2014/main" id="{C61F7F4D-E869-E6BC-2C4E-B2601DDBA7C5}"/>
              </a:ext>
            </a:extLst>
          </p:cNvPr>
          <p:cNvSpPr/>
          <p:nvPr/>
        </p:nvSpPr>
        <p:spPr>
          <a:xfrm>
            <a:off x="548640" y="6343420"/>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rPr>
              <a:t>©FortunateAnalytics2026</a:t>
            </a:r>
          </a:p>
        </p:txBody>
      </p:sp>
      <p:sp>
        <p:nvSpPr>
          <p:cNvPr id="7" name="TextBox 6">
            <a:extLst>
              <a:ext uri="{FF2B5EF4-FFF2-40B4-BE49-F238E27FC236}">
                <a16:creationId xmlns:a16="http://schemas.microsoft.com/office/drawing/2014/main" id="{9678A40C-3B06-6329-730E-7D6FB77C60CF}"/>
              </a:ext>
            </a:extLst>
          </p:cNvPr>
          <p:cNvSpPr txBox="1"/>
          <p:nvPr/>
        </p:nvSpPr>
        <p:spPr>
          <a:xfrm>
            <a:off x="4267200" y="2506106"/>
            <a:ext cx="7132320" cy="1200329"/>
          </a:xfrm>
          <a:prstGeom prst="rect">
            <a:avLst/>
          </a:prstGeom>
          <a:noFill/>
        </p:spPr>
        <p:txBody>
          <a:bodyPr wrap="square">
            <a:spAutoFit/>
          </a:bodyPr>
          <a:lstStyle/>
          <a:p>
            <a:r>
              <a:rPr lang="en-US" dirty="0">
                <a:solidFill>
                  <a:sysClr val="windowText" lastClr="000000"/>
                </a:solidFill>
              </a:rPr>
              <a:t>A Data Science graduate and aspiring Data Scientist based in Harare, Zimbabwe, with a passion for turning raw data into actionable business insights. </a:t>
            </a:r>
            <a:r>
              <a:rPr lang="en-US" dirty="0">
                <a:solidFill>
                  <a:srgbClr val="2C3E50"/>
                </a:solidFill>
              </a:rPr>
              <a:t>She is currently seeking graduate opportunities in data science and analytics.</a:t>
            </a:r>
            <a:endParaRPr lang="en-ZW" dirty="0">
              <a:solidFill>
                <a:sysClr val="windowText" lastClr="000000"/>
              </a:solidFill>
            </a:endParaRPr>
          </a:p>
        </p:txBody>
      </p:sp>
    </p:spTree>
    <p:extLst>
      <p:ext uri="{BB962C8B-B14F-4D97-AF65-F5344CB8AC3E}">
        <p14:creationId xmlns:p14="http://schemas.microsoft.com/office/powerpoint/2010/main" val="315401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0A7E8C"/>
          </a:solidFill>
          <a:ln w="12700">
            <a:solidFill>
              <a:srgbClr val="0A7E8C"/>
            </a:solidFill>
            <a:prstDash val="solid"/>
          </a:ln>
        </p:spPr>
      </p:sp>
      <p:sp>
        <p:nvSpPr>
          <p:cNvPr id="3" name="Text 1"/>
          <p:cNvSpPr/>
          <p:nvPr/>
        </p:nvSpPr>
        <p:spPr>
          <a:xfrm>
            <a:off x="731520" y="975360"/>
            <a:ext cx="10363200" cy="1219200"/>
          </a:xfrm>
          <a:prstGeom prst="rect">
            <a:avLst/>
          </a:prstGeom>
          <a:noFill/>
          <a:ln/>
        </p:spPr>
        <p:txBody>
          <a:bodyPr wrap="square" lIns="0" tIns="0" rIns="0" bIns="0" rtlCol="0" anchor="ctr"/>
          <a:lstStyle/>
          <a:p>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4" name="Shape 2"/>
          <p:cNvSpPr/>
          <p:nvPr/>
        </p:nvSpPr>
        <p:spPr>
          <a:xfrm>
            <a:off x="731520" y="2255520"/>
            <a:ext cx="1706880" cy="73152"/>
          </a:xfrm>
          <a:prstGeom prst="rect">
            <a:avLst/>
          </a:prstGeom>
          <a:solidFill>
            <a:srgbClr val="0A7E8C"/>
          </a:solidFill>
          <a:ln w="12700">
            <a:solidFill>
              <a:srgbClr val="0A7E8C"/>
            </a:solidFill>
            <a:prstDash val="solid"/>
          </a:ln>
        </p:spPr>
      </p:sp>
      <p:sp>
        <p:nvSpPr>
          <p:cNvPr id="5" name="Text 3"/>
          <p:cNvSpPr/>
          <p:nvPr/>
        </p:nvSpPr>
        <p:spPr>
          <a:xfrm>
            <a:off x="731520" y="2560320"/>
            <a:ext cx="7315200" cy="463296"/>
          </a:xfrm>
          <a:prstGeom prst="rect">
            <a:avLst/>
          </a:prstGeom>
          <a:noFill/>
          <a:ln/>
        </p:spPr>
        <p:txBody>
          <a:bodyPr wrap="square" lIns="0" tIns="0" rIns="0" bIns="0" rtlCol="0" anchor="ctr"/>
          <a:lstStyle/>
          <a:p>
            <a:r>
              <a:rPr lang="en-US" sz="2400" b="1" dirty="0">
                <a:solidFill>
                  <a:srgbClr val="FFFFFF"/>
                </a:solidFill>
                <a:latin typeface="Cambria" pitchFamily="34" charset="0"/>
                <a:ea typeface="Cambria" pitchFamily="34" charset="-122"/>
                <a:cs typeface="Cambria" pitchFamily="34" charset="-120"/>
              </a:rPr>
              <a:t>Elma Fortunate Phiri</a:t>
            </a:r>
            <a:endParaRPr lang="en-US" sz="2400" dirty="0"/>
          </a:p>
        </p:txBody>
      </p:sp>
      <p:sp>
        <p:nvSpPr>
          <p:cNvPr id="6" name="Text 4"/>
          <p:cNvSpPr/>
          <p:nvPr/>
        </p:nvSpPr>
        <p:spPr>
          <a:xfrm>
            <a:off x="731520" y="3108960"/>
            <a:ext cx="9753600" cy="365760"/>
          </a:xfrm>
          <a:prstGeom prst="rect">
            <a:avLst/>
          </a:prstGeom>
          <a:noFill/>
          <a:ln/>
        </p:spPr>
        <p:txBody>
          <a:bodyPr wrap="square" lIns="0" tIns="0" rIns="0" bIns="0" rtlCol="0" anchor="ctr"/>
          <a:lstStyle/>
          <a:p>
            <a:r>
              <a:rPr lang="en-US" sz="1733" i="1" dirty="0">
                <a:solidFill>
                  <a:srgbClr val="14B8C8"/>
                </a:solidFill>
                <a:latin typeface="Calibri" pitchFamily="34" charset="0"/>
                <a:ea typeface="Calibri" pitchFamily="34" charset="-122"/>
                <a:cs typeface="Calibri" pitchFamily="34" charset="-120"/>
              </a:rPr>
              <a:t>Loan Portfolio Monitoring &amp; Early Warning System</a:t>
            </a:r>
            <a:endParaRPr lang="en-US" sz="1733" dirty="0"/>
          </a:p>
        </p:txBody>
      </p:sp>
      <p:sp>
        <p:nvSpPr>
          <p:cNvPr id="7" name="Shape 5"/>
          <p:cNvSpPr/>
          <p:nvPr/>
        </p:nvSpPr>
        <p:spPr>
          <a:xfrm>
            <a:off x="548640" y="4084320"/>
            <a:ext cx="3474720" cy="2133600"/>
          </a:xfrm>
          <a:prstGeom prst="roundRect">
            <a:avLst>
              <a:gd name="adj" fmla="val 4571"/>
            </a:avLst>
          </a:prstGeom>
          <a:solidFill>
            <a:srgbClr val="0E1F35"/>
          </a:solidFill>
          <a:ln w="12700">
            <a:solidFill>
              <a:srgbClr val="D0E8EC"/>
            </a:solidFill>
            <a:prstDash val="solid"/>
          </a:ln>
          <a:effectLst>
            <a:outerShdw blurRad="76200" dist="25400" dir="2700000" algn="bl" rotWithShape="0">
              <a:srgbClr val="000000">
                <a:alpha val="12000"/>
              </a:srgbClr>
            </a:outerShdw>
          </a:effectLst>
        </p:spPr>
      </p:sp>
      <p:sp>
        <p:nvSpPr>
          <p:cNvPr id="8" name="Text 6"/>
          <p:cNvSpPr/>
          <p:nvPr/>
        </p:nvSpPr>
        <p:spPr>
          <a:xfrm>
            <a:off x="548640" y="4206240"/>
            <a:ext cx="3474720" cy="548640"/>
          </a:xfrm>
          <a:prstGeom prst="rect">
            <a:avLst/>
          </a:prstGeom>
          <a:noFill/>
          <a:ln/>
        </p:spPr>
        <p:txBody>
          <a:bodyPr wrap="square" lIns="0" tIns="0" rIns="0" bIns="0" rtlCol="0" anchor="ctr"/>
          <a:lstStyle/>
          <a:p>
            <a:pPr algn="ctr"/>
            <a:r>
              <a:rPr lang="en-US" sz="2933" dirty="0">
                <a:solidFill>
                  <a:srgbClr val="000000"/>
                </a:solidFill>
              </a:rPr>
              <a:t>💬</a:t>
            </a:r>
            <a:endParaRPr lang="en-US" sz="2933" dirty="0"/>
          </a:p>
        </p:txBody>
      </p:sp>
      <p:sp>
        <p:nvSpPr>
          <p:cNvPr id="9" name="Text 7"/>
          <p:cNvSpPr/>
          <p:nvPr/>
        </p:nvSpPr>
        <p:spPr>
          <a:xfrm>
            <a:off x="694944" y="4779264"/>
            <a:ext cx="3169920" cy="36576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Questions?</a:t>
            </a:r>
            <a:endParaRPr lang="en-US" sz="1733" dirty="0"/>
          </a:p>
        </p:txBody>
      </p:sp>
      <p:sp>
        <p:nvSpPr>
          <p:cNvPr id="10" name="Text 8"/>
          <p:cNvSpPr/>
          <p:nvPr/>
        </p:nvSpPr>
        <p:spPr>
          <a:xfrm>
            <a:off x="670560" y="5218176"/>
            <a:ext cx="3230880" cy="731520"/>
          </a:xfrm>
          <a:prstGeom prst="rect">
            <a:avLst/>
          </a:prstGeom>
          <a:noFill/>
          <a:ln/>
        </p:spPr>
        <p:txBody>
          <a:bodyPr wrap="square" lIns="0" tIns="0" rIns="0" bIns="0" rtlCol="0" anchor="ctr"/>
          <a:lstStyle/>
          <a:p>
            <a:pPr algn="ctr"/>
            <a:endParaRPr lang="en-US" sz="1333" dirty="0"/>
          </a:p>
        </p:txBody>
      </p:sp>
      <p:sp>
        <p:nvSpPr>
          <p:cNvPr id="11" name="Shape 9"/>
          <p:cNvSpPr/>
          <p:nvPr/>
        </p:nvSpPr>
        <p:spPr>
          <a:xfrm>
            <a:off x="4328160" y="4084320"/>
            <a:ext cx="3474720" cy="2133600"/>
          </a:xfrm>
          <a:prstGeom prst="roundRect">
            <a:avLst>
              <a:gd name="adj" fmla="val 4571"/>
            </a:avLst>
          </a:prstGeom>
          <a:solidFill>
            <a:srgbClr val="0E1F35"/>
          </a:solidFill>
          <a:ln w="12700">
            <a:solidFill>
              <a:srgbClr val="D0E8EC"/>
            </a:solidFill>
            <a:prstDash val="solid"/>
          </a:ln>
          <a:effectLst>
            <a:outerShdw blurRad="76200" dist="25400" dir="2700000" algn="bl" rotWithShape="0">
              <a:srgbClr val="000000">
                <a:alpha val="12000"/>
              </a:srgbClr>
            </a:outerShdw>
          </a:effectLst>
        </p:spPr>
      </p:sp>
      <p:sp>
        <p:nvSpPr>
          <p:cNvPr id="12" name="Text 10"/>
          <p:cNvSpPr/>
          <p:nvPr/>
        </p:nvSpPr>
        <p:spPr>
          <a:xfrm>
            <a:off x="4328160" y="4206240"/>
            <a:ext cx="3474720" cy="548640"/>
          </a:xfrm>
          <a:prstGeom prst="rect">
            <a:avLst/>
          </a:prstGeom>
          <a:noFill/>
          <a:ln/>
        </p:spPr>
        <p:txBody>
          <a:bodyPr wrap="square" lIns="0" tIns="0" rIns="0" bIns="0" rtlCol="0" anchor="ctr"/>
          <a:lstStyle/>
          <a:p>
            <a:pPr algn="ctr"/>
            <a:r>
              <a:rPr lang="en-US" sz="2933" dirty="0">
                <a:solidFill>
                  <a:srgbClr val="000000"/>
                </a:solidFill>
              </a:rPr>
              <a:t>🔗</a:t>
            </a:r>
            <a:endParaRPr lang="en-US" sz="2933" dirty="0"/>
          </a:p>
        </p:txBody>
      </p:sp>
      <p:sp>
        <p:nvSpPr>
          <p:cNvPr id="13" name="Text 11"/>
          <p:cNvSpPr/>
          <p:nvPr/>
        </p:nvSpPr>
        <p:spPr>
          <a:xfrm>
            <a:off x="4474464" y="4779264"/>
            <a:ext cx="3169920" cy="36576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Connect</a:t>
            </a:r>
            <a:endParaRPr lang="en-US" sz="1733" dirty="0"/>
          </a:p>
        </p:txBody>
      </p:sp>
      <p:sp>
        <p:nvSpPr>
          <p:cNvPr id="14" name="Text 12"/>
          <p:cNvSpPr/>
          <p:nvPr/>
        </p:nvSpPr>
        <p:spPr>
          <a:xfrm>
            <a:off x="4450080" y="5218176"/>
            <a:ext cx="3230880" cy="731520"/>
          </a:xfrm>
          <a:prstGeom prst="rect">
            <a:avLst/>
          </a:prstGeom>
          <a:noFill/>
          <a:ln/>
        </p:spPr>
        <p:txBody>
          <a:bodyPr wrap="square" lIns="0" tIns="0" rIns="0" bIns="0" rtlCol="0" anchor="ctr"/>
          <a:lstStyle/>
          <a:p>
            <a:pPr algn="ctr"/>
            <a:r>
              <a:rPr lang="en-US" sz="1333" dirty="0">
                <a:solidFill>
                  <a:srgbClr val="8FA8BA"/>
                </a:solidFill>
                <a:latin typeface="Calibri" pitchFamily="34" charset="0"/>
                <a:ea typeface="Calibri" pitchFamily="34" charset="-122"/>
                <a:cs typeface="Calibri" pitchFamily="34" charset="-120"/>
              </a:rPr>
              <a:t>LinkedIn</a:t>
            </a:r>
            <a:endParaRPr lang="en-US" sz="1333" dirty="0"/>
          </a:p>
        </p:txBody>
      </p:sp>
      <p:sp>
        <p:nvSpPr>
          <p:cNvPr id="15" name="Shape 13"/>
          <p:cNvSpPr/>
          <p:nvPr/>
        </p:nvSpPr>
        <p:spPr>
          <a:xfrm>
            <a:off x="8107680" y="4084320"/>
            <a:ext cx="3474720" cy="2133600"/>
          </a:xfrm>
          <a:prstGeom prst="roundRect">
            <a:avLst>
              <a:gd name="adj" fmla="val 4571"/>
            </a:avLst>
          </a:prstGeom>
          <a:solidFill>
            <a:srgbClr val="0E1F35"/>
          </a:solidFill>
          <a:ln w="12700">
            <a:solidFill>
              <a:srgbClr val="D0E8EC"/>
            </a:solidFill>
            <a:prstDash val="solid"/>
          </a:ln>
          <a:effectLst>
            <a:outerShdw blurRad="76200" dist="25400" dir="2700000" algn="bl" rotWithShape="0">
              <a:srgbClr val="000000">
                <a:alpha val="12000"/>
              </a:srgbClr>
            </a:outerShdw>
          </a:effectLst>
        </p:spPr>
      </p:sp>
      <p:sp>
        <p:nvSpPr>
          <p:cNvPr id="16" name="Text 14"/>
          <p:cNvSpPr/>
          <p:nvPr/>
        </p:nvSpPr>
        <p:spPr>
          <a:xfrm>
            <a:off x="8107680" y="4206240"/>
            <a:ext cx="3474720" cy="548640"/>
          </a:xfrm>
          <a:prstGeom prst="rect">
            <a:avLst/>
          </a:prstGeom>
          <a:noFill/>
          <a:ln/>
        </p:spPr>
        <p:txBody>
          <a:bodyPr wrap="square" lIns="0" tIns="0" rIns="0" bIns="0" rtlCol="0" anchor="ctr"/>
          <a:lstStyle/>
          <a:p>
            <a:pPr algn="ctr"/>
            <a:r>
              <a:rPr lang="en-US" sz="2933" dirty="0">
                <a:solidFill>
                  <a:srgbClr val="000000"/>
                </a:solidFill>
              </a:rPr>
              <a:t>💻</a:t>
            </a:r>
            <a:endParaRPr lang="en-US" sz="2933" dirty="0"/>
          </a:p>
        </p:txBody>
      </p:sp>
      <p:sp>
        <p:nvSpPr>
          <p:cNvPr id="17" name="Text 15"/>
          <p:cNvSpPr/>
          <p:nvPr/>
        </p:nvSpPr>
        <p:spPr>
          <a:xfrm>
            <a:off x="8253984" y="4779264"/>
            <a:ext cx="3169920" cy="365760"/>
          </a:xfrm>
          <a:prstGeom prst="rect">
            <a:avLst/>
          </a:prstGeom>
          <a:noFill/>
          <a:ln/>
        </p:spPr>
        <p:txBody>
          <a:bodyPr wrap="square" lIns="0" tIns="0" rIns="0" bIns="0" rtlCol="0" anchor="ctr"/>
          <a:lstStyle/>
          <a:p>
            <a:pPr algn="ctr"/>
            <a:r>
              <a:rPr lang="en-US" sz="1733" b="1" dirty="0">
                <a:solidFill>
                  <a:srgbClr val="FFFFFF"/>
                </a:solidFill>
                <a:latin typeface="Cambria" pitchFamily="34" charset="0"/>
                <a:ea typeface="Cambria" pitchFamily="34" charset="-122"/>
                <a:cs typeface="Cambria" pitchFamily="34" charset="-120"/>
              </a:rPr>
              <a:t>See the Code</a:t>
            </a:r>
            <a:endParaRPr lang="en-US" sz="1733" dirty="0"/>
          </a:p>
        </p:txBody>
      </p:sp>
      <p:sp>
        <p:nvSpPr>
          <p:cNvPr id="18" name="Text 16"/>
          <p:cNvSpPr/>
          <p:nvPr/>
        </p:nvSpPr>
        <p:spPr>
          <a:xfrm>
            <a:off x="8229600" y="5218176"/>
            <a:ext cx="3230880" cy="731520"/>
          </a:xfrm>
          <a:prstGeom prst="rect">
            <a:avLst/>
          </a:prstGeom>
          <a:noFill/>
          <a:ln/>
        </p:spPr>
        <p:txBody>
          <a:bodyPr wrap="square" lIns="0" tIns="0" rIns="0" bIns="0" rtlCol="0" anchor="ctr"/>
          <a:lstStyle/>
          <a:p>
            <a:pPr algn="ctr"/>
            <a:r>
              <a:rPr lang="en-US" sz="1333" dirty="0">
                <a:solidFill>
                  <a:srgbClr val="8FA8BA"/>
                </a:solidFill>
                <a:latin typeface="Calibri" pitchFamily="34" charset="0"/>
                <a:ea typeface="Calibri" pitchFamily="34" charset="-122"/>
                <a:cs typeface="Calibri" pitchFamily="34" charset="-120"/>
              </a:rPr>
              <a:t>Notebook available — built in Python / Jupyter</a:t>
            </a:r>
            <a:endParaRPr lang="en-US" sz="1333" dirty="0"/>
          </a:p>
        </p:txBody>
      </p:sp>
      <p:sp>
        <p:nvSpPr>
          <p:cNvPr id="19" name="Text 6">
            <a:extLst>
              <a:ext uri="{FF2B5EF4-FFF2-40B4-BE49-F238E27FC236}">
                <a16:creationId xmlns:a16="http://schemas.microsoft.com/office/drawing/2014/main" id="{A7C34518-1182-BC5F-BDCA-867E5319B775}"/>
              </a:ext>
            </a:extLst>
          </p:cNvPr>
          <p:cNvSpPr/>
          <p:nvPr/>
        </p:nvSpPr>
        <p:spPr>
          <a:xfrm>
            <a:off x="557352" y="6346612"/>
            <a:ext cx="6096000" cy="365760"/>
          </a:xfrm>
          <a:prstGeom prst="rect">
            <a:avLst/>
          </a:prstGeom>
          <a:noFill/>
          <a:ln/>
        </p:spPr>
        <p:txBody>
          <a:bodyPr wrap="square" lIns="0" tIns="0" rIns="0" bIns="0" rtlCol="0" anchor="ctr"/>
          <a:lstStyle/>
          <a:p>
            <a:r>
              <a:rPr lang="en-US" sz="1200" dirty="0">
                <a:solidFill>
                  <a:srgbClr val="8FA8BA"/>
                </a:solidFill>
                <a:latin typeface="Calibri" pitchFamily="34" charset="0"/>
                <a:cs typeface="Calibri" pitchFamily="34" charset="-120"/>
              </a:rPr>
              <a:t>©FortunateAnalytics2026</a:t>
            </a:r>
            <a:endParaRPr lang="en-US" sz="1200" dirty="0"/>
          </a:p>
        </p:txBody>
      </p:sp>
      <p:sp>
        <p:nvSpPr>
          <p:cNvPr id="21" name="TextBox 20">
            <a:extLst>
              <a:ext uri="{FF2B5EF4-FFF2-40B4-BE49-F238E27FC236}">
                <a16:creationId xmlns:a16="http://schemas.microsoft.com/office/drawing/2014/main" id="{6DE84367-A7A2-B7EB-DE44-6D585EE6B70E}"/>
              </a:ext>
            </a:extLst>
          </p:cNvPr>
          <p:cNvSpPr txBox="1"/>
          <p:nvPr/>
        </p:nvSpPr>
        <p:spPr>
          <a:xfrm>
            <a:off x="4450080" y="5117068"/>
            <a:ext cx="3230880" cy="365760"/>
          </a:xfrm>
          <a:prstGeom prst="rect">
            <a:avLst/>
          </a:prstGeom>
          <a:noFill/>
        </p:spPr>
        <p:txBody>
          <a:bodyPr wrap="square">
            <a:spAutoFit/>
          </a:bodyPr>
          <a:lstStyle/>
          <a:p>
            <a:r>
              <a:rPr lang="en-ZW" dirty="0">
                <a:hlinkClick r:id="rId3"/>
              </a:rPr>
              <a:t>Elma Fortunate Phiri | LinkedIn</a:t>
            </a:r>
            <a:endParaRPr lang="en-ZW"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TotalTime>
  <Words>2767</Words>
  <Application>Microsoft Office PowerPoint</Application>
  <PresentationFormat>Widescreen</PresentationFormat>
  <Paragraphs>231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Anthropic Sans</vt:lpstr>
      <vt:lpstr>Arial</vt:lpstr>
      <vt:lpstr>Calibri</vt:lpstr>
      <vt:lpstr>Calibri Light</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Elma Fortunate</dc:creator>
  <cp:lastModifiedBy>Elma Fortunate</cp:lastModifiedBy>
  <cp:revision>14</cp:revision>
  <cp:lastPrinted>2026-06-10T19:22:18Z</cp:lastPrinted>
  <dcterms:created xsi:type="dcterms:W3CDTF">2026-06-10T19:13:05Z</dcterms:created>
  <dcterms:modified xsi:type="dcterms:W3CDTF">2026-06-23T14:48:51Z</dcterms:modified>
</cp:coreProperties>
</file>