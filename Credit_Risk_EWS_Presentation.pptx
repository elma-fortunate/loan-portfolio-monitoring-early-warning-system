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0.686</c:v>
                </c:pt>
                <c:pt idx="1">
                  <c:v>0.889</c:v>
                </c:pt>
                <c:pt idx="2">
                  <c:v>0.911</c:v>
                </c:pt>
                <c:pt idx="3">
                  <c:v>0.907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Features (Mean SHAP Value)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Revol Util (%)</c:v>
                  </c:pt>
                  <c:pt idx="1">
                    <c:v>DTI (%)</c:v>
                  </c:pt>
                  <c:pt idx="2">
                    <c:v>Int Rate (%)</c:v>
                  </c:pt>
                  <c:pt idx="3">
                    <c:v>DSCR</c:v>
                  </c:pt>
                  <c:pt idx="4">
                    <c:v>Credit Score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</c:v>
                </c:pt>
                <c:pt idx="1">
                  <c:v>0.39</c:v>
                </c:pt>
                <c:pt idx="2">
                  <c:v>0.4</c:v>
                </c:pt>
                <c:pt idx="3">
                  <c:v>0.47</c:v>
                </c:pt>
                <c:pt idx="4">
                  <c:v>0.53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09728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MONITORING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EARLY WARNING SYSTEM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 Modelling · Explainable AI · Real-Time EWS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 Fortunate Phiri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credit risk monitoring matters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loan portfolio — features, cleaning, EDA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flags, risk bands, priority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Model Results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243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3 alternatives — AUC 0.911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default risk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50292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Power 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interactive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identifies default only after loans are already non-performing — recovery is harder and costlier.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teams lack a systematic way to rank which loans need immediate attention across large portfolios.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default but don't explain why — making it impossible to justify decisions to regulators or credit committees.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all three — combining rule-based EWS flags, ML-based PD scoring, and SHAP explainability.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097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097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097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balance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1920240" cy="1097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values imputed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41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amounts are heavily right-skewed — most borrowers take $100K–$200K; a few take very large amounts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729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998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the strongest single predictor of repayment behaviour across all loan statuses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581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 loans show DTI medians near 79% vs 22% for performing loans — a clear separation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441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utilisation climbs sharply from ~28% (performing) to ~90% (non-performing)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729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0998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shows minimal separation across risk bands — collateral coverage alone is a weak default predictor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3133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7581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below 1.0 is concentrated entirely in Watch and Non-performing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(EWS)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RISK FLAGS — WEIGHTED COMPOSITE SCORE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8463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4846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783080"/>
            <a:ext cx="54864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0992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&gt; 30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7099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past due &gt; 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170992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4846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58568"/>
            <a:ext cx="54864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854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Pmts ≥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1854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missed 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218541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4846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734056"/>
            <a:ext cx="548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6090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&gt; 40%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26609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266090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136392"/>
            <a:ext cx="4846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209544"/>
            <a:ext cx="548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3639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&gt; 80%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13639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thin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1363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611880"/>
            <a:ext cx="4846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685032"/>
            <a:ext cx="54864" cy="256032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11880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&lt; 1.2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36118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cover debt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36118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087368"/>
            <a:ext cx="4846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160520"/>
            <a:ext cx="54864" cy="256032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08736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 Util &gt; 70%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03120" y="40873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maxed out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40873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 (Max Score = 12)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0" y="1234440"/>
            <a:ext cx="3474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0" y="1234440"/>
            <a:ext cx="164592" cy="7498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5733288" y="12710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Performing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33288" y="1508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33288" y="170992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monitoring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2103120"/>
            <a:ext cx="3474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2103120"/>
            <a:ext cx="164592" cy="74980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47" name="Text 45"/>
          <p:cNvSpPr/>
          <p:nvPr/>
        </p:nvSpPr>
        <p:spPr>
          <a:xfrm>
            <a:off x="5733288" y="21396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Watch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33288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5786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check-in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0" y="2971800"/>
            <a:ext cx="3474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86400" y="2971800"/>
            <a:ext cx="164592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5733288" y="300837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Special Mention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733288" y="3246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4–6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33288" y="344728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call required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0" y="3840480"/>
            <a:ext cx="3474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86400" y="3840480"/>
            <a:ext cx="164592" cy="7498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7" name="Text 55"/>
          <p:cNvSpPr/>
          <p:nvPr/>
        </p:nvSpPr>
        <p:spPr>
          <a:xfrm>
            <a:off x="5733288" y="38770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Non-Performing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733288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7–12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33288" y="431596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Credit Committee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60120"/>
          <a:ext cx="320040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594360"/>
                <a:gridCol w="6400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291840"/>
            <a:ext cx="320040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5216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MODEL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5216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AUC 0.911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3886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AUC · Low overfitting risk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dips below the random classifier at mid-range FPR — non-linear relationships make tree-based models significantly superior.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— WHAT DRIVES DEFAULT?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960120"/>
            <a:ext cx="3977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960120"/>
            <a:ext cx="109728" cy="7132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996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Credit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20640" y="12710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predictor. Low scores push strongly toward default; high scores protect.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0" y="1764792"/>
            <a:ext cx="3977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64792"/>
            <a:ext cx="1097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801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DSCR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075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coverage (&gt;1.5) reduces default risk. Below 1.0 is a critical warning sign.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2569464"/>
            <a:ext cx="3977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2569464"/>
            <a:ext cx="1097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Int Rate (%)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2880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rates proxy for underlying borrower risk assigned at origination.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37760" y="3374136"/>
            <a:ext cx="3977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3374136"/>
            <a:ext cx="10972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410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Revol Util (%)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3685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Maxed-out credit signals financial stress and raises default probability.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37760" y="4178808"/>
            <a:ext cx="3977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4178808"/>
            <a:ext cx="10972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215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DTI (%)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burden consistently pushes predictions toward default.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607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408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CSV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005840"/>
            <a:ext cx="2011680" cy="77724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59152" y="10607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59152" y="1408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EWS · PD Model · SHAP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548640"/>
            <a:ext cx="1737360" cy="7772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6035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CSV Export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950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ews_report.csv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737360" cy="7772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Scores 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1956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pd_scores.csv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548640"/>
            <a:ext cx="1737360" cy="7772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39712" y="6035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9712" y="950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1737360" cy="7772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16093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9712" y="1956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· EWS · Analytics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1389888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91440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1938528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914400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938528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PAGES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4114800" cy="82296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Executive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32735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loans, total exposure, urgent count, PAR%. Donut and bar charts by risk band.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4114800" cy="82296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EWS Priority 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 of all loans with EWS action, risk band, PD score. Slicers by sector, action, band.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2990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Risk Analytics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32735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sector, PD score histogram, credit score vs PD scatter, flag trigger rates.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886200"/>
            <a:ext cx="4114800" cy="82296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3950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Loan Drillthrough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loan to see full detail: all flags, PD score, exposure, and recommended 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all alternatives with AUC 0.911 — reliable default prediction from origination-time features only.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299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Flags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weighted risk flags produce a composite score that correctly stratifies loans into four actionable risk bands.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9008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0632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the dominant default predictor — confirmed by both feature importance and SHAP values.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" cy="749808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5020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0233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post-default observables (DPD, Missed Pmts) excluded from the model — results reflect genuine predictive power.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 Fortunate Phiri  ·  Credit Risk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Monitoring &amp; Early Warning System</dc:title>
  <dc:subject>PptxGenJS Presentation</dc:subject>
  <dc:creator>Elma Fortunate Phiri</dc:creator>
  <cp:lastModifiedBy>Elma Fortunate Phiri</cp:lastModifiedBy>
  <cp:revision>1</cp:revision>
  <dcterms:created xsi:type="dcterms:W3CDTF">2026-04-24T13:36:25Z</dcterms:created>
  <dcterms:modified xsi:type="dcterms:W3CDTF">2026-04-24T13:36:25Z</dcterms:modified>
</cp:coreProperties>
</file>